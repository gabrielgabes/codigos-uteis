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6"/>
  </p:notesMasterIdLst>
  <p:sldIdLst>
    <p:sldId id="296" r:id="rId2"/>
    <p:sldId id="297" r:id="rId3"/>
    <p:sldId id="308" r:id="rId4"/>
    <p:sldId id="298" r:id="rId5"/>
    <p:sldId id="301" r:id="rId6"/>
    <p:sldId id="302" r:id="rId7"/>
    <p:sldId id="303" r:id="rId8"/>
    <p:sldId id="274" r:id="rId9"/>
    <p:sldId id="278" r:id="rId10"/>
    <p:sldId id="313" r:id="rId11"/>
    <p:sldId id="305" r:id="rId12"/>
    <p:sldId id="309" r:id="rId13"/>
    <p:sldId id="310" r:id="rId14"/>
    <p:sldId id="282" r:id="rId15"/>
    <p:sldId id="311" r:id="rId16"/>
    <p:sldId id="314" r:id="rId17"/>
    <p:sldId id="312" r:id="rId18"/>
    <p:sldId id="277" r:id="rId19"/>
    <p:sldId id="284" r:id="rId20"/>
    <p:sldId id="286" r:id="rId21"/>
    <p:sldId id="291" r:id="rId22"/>
    <p:sldId id="295" r:id="rId23"/>
    <p:sldId id="294" r:id="rId24"/>
    <p:sldId id="304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>
        <p:scale>
          <a:sx n="46" d="100"/>
          <a:sy n="46" d="100"/>
        </p:scale>
        <p:origin x="58" y="6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Silva dos Anjos" userId="8fb4646b515390da" providerId="LiveId" clId="{B8BEB7C2-69DD-4275-B93B-F0AA18BDC585}"/>
    <pc:docChg chg="modSld">
      <pc:chgData name="Gabriel Silva dos Anjos" userId="8fb4646b515390da" providerId="LiveId" clId="{B8BEB7C2-69DD-4275-B93B-F0AA18BDC585}" dt="2026-01-03T05:01:43.965" v="3" actId="20577"/>
      <pc:docMkLst>
        <pc:docMk/>
      </pc:docMkLst>
      <pc:sldChg chg="modSp mod">
        <pc:chgData name="Gabriel Silva dos Anjos" userId="8fb4646b515390da" providerId="LiveId" clId="{B8BEB7C2-69DD-4275-B93B-F0AA18BDC585}" dt="2026-01-03T05:01:43.965" v="3" actId="20577"/>
        <pc:sldMkLst>
          <pc:docMk/>
          <pc:sldMk cId="1311818776" sldId="296"/>
        </pc:sldMkLst>
        <pc:spChg chg="mod">
          <ac:chgData name="Gabriel Silva dos Anjos" userId="8fb4646b515390da" providerId="LiveId" clId="{B8BEB7C2-69DD-4275-B93B-F0AA18BDC585}" dt="2026-01-03T05:01:43.965" v="3" actId="20577"/>
          <ac:spMkLst>
            <pc:docMk/>
            <pc:sldMk cId="1311818776" sldId="296"/>
            <ac:spMk id="3" creationId="{E0641BDC-2401-AE6B-5251-6881F6E2A25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BA8C7F-179C-418F-8B3C-89B5A104FD15}" type="datetimeFigureOut">
              <a:rPr lang="pt-BR" smtClean="0"/>
              <a:t>03/01/2026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811DD6-90C8-4309-B2ED-FBC656E654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1042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Na programação orientada a objetos, uma variável é um espaço na memória do computador que  é reservado para armazenar valores de um tipo especificado. Quando você declara uma variável em  seu script Python, você está essencialmente pedindo ao intérprete para alocar o computador  memória para o tipo de dados esperado e você atribui a esse local de memória um  nome. Este nome é o que chamamos de nome de variável e pode ser atribuído a qualquer tipo de </a:t>
            </a:r>
            <a:r>
              <a:rPr lang="pt-BR" dirty="0" err="1"/>
              <a:t>variaveis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11DD6-90C8-4309-B2ED-FBC656E654D7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0916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63B7E-0CEE-4E9A-AE5C-A0FB9AE20B8C}" type="datetimeFigureOut">
              <a:rPr lang="pt-BR" smtClean="0"/>
              <a:t>03/01/2026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D07F-C684-4DA4-A78F-54C160ACB2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4213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63B7E-0CEE-4E9A-AE5C-A0FB9AE20B8C}" type="datetimeFigureOut">
              <a:rPr lang="pt-BR" smtClean="0"/>
              <a:t>03/01/2026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D07F-C684-4DA4-A78F-54C160ACB2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206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63B7E-0CEE-4E9A-AE5C-A0FB9AE20B8C}" type="datetimeFigureOut">
              <a:rPr lang="pt-BR" smtClean="0"/>
              <a:t>03/01/2026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D07F-C684-4DA4-A78F-54C160ACB2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9312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63B7E-0CEE-4E9A-AE5C-A0FB9AE20B8C}" type="datetimeFigureOut">
              <a:rPr lang="pt-BR" smtClean="0"/>
              <a:t>03/01/2026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D07F-C684-4DA4-A78F-54C160ACB2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1920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63B7E-0CEE-4E9A-AE5C-A0FB9AE20B8C}" type="datetimeFigureOut">
              <a:rPr lang="pt-BR" smtClean="0"/>
              <a:t>03/01/2026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D07F-C684-4DA4-A78F-54C160ACB2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483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63B7E-0CEE-4E9A-AE5C-A0FB9AE20B8C}" type="datetimeFigureOut">
              <a:rPr lang="pt-BR" smtClean="0"/>
              <a:t>03/01/2026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D07F-C684-4DA4-A78F-54C160ACB2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6269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63B7E-0CEE-4E9A-AE5C-A0FB9AE20B8C}" type="datetimeFigureOut">
              <a:rPr lang="pt-BR" smtClean="0"/>
              <a:t>03/01/2026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D07F-C684-4DA4-A78F-54C160ACB2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2992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63B7E-0CEE-4E9A-AE5C-A0FB9AE20B8C}" type="datetimeFigureOut">
              <a:rPr lang="pt-BR" smtClean="0"/>
              <a:t>03/01/2026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D07F-C684-4DA4-A78F-54C160ACB2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07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63B7E-0CEE-4E9A-AE5C-A0FB9AE20B8C}" type="datetimeFigureOut">
              <a:rPr lang="pt-BR" smtClean="0"/>
              <a:t>03/01/2026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D07F-C684-4DA4-A78F-54C160ACB2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9893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63B7E-0CEE-4E9A-AE5C-A0FB9AE20B8C}" type="datetimeFigureOut">
              <a:rPr lang="pt-BR" smtClean="0"/>
              <a:t>03/01/2026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D07F-C684-4DA4-A78F-54C160ACB2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8198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63B7E-0CEE-4E9A-AE5C-A0FB9AE20B8C}" type="datetimeFigureOut">
              <a:rPr lang="pt-BR" smtClean="0"/>
              <a:t>03/01/2026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D07F-C684-4DA4-A78F-54C160ACB2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20906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63B7E-0CEE-4E9A-AE5C-A0FB9AE20B8C}" type="datetimeFigureOut">
              <a:rPr lang="pt-BR" smtClean="0"/>
              <a:t>03/01/2026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D07F-C684-4DA4-A78F-54C160ACB28F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9766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63B7E-0CEE-4E9A-AE5C-A0FB9AE20B8C}" type="datetimeFigureOut">
              <a:rPr lang="pt-BR" smtClean="0"/>
              <a:t>03/01/2026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D07F-C684-4DA4-A78F-54C160ACB2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09027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63B7E-0CEE-4E9A-AE5C-A0FB9AE20B8C}" type="datetimeFigureOut">
              <a:rPr lang="pt-BR" smtClean="0"/>
              <a:t>03/01/2026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D07F-C684-4DA4-A78F-54C160ACB2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64605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63B7E-0CEE-4E9A-AE5C-A0FB9AE20B8C}" type="datetimeFigureOut">
              <a:rPr lang="pt-BR" smtClean="0"/>
              <a:t>03/01/2026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D07F-C684-4DA4-A78F-54C160ACB2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29400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63B7E-0CEE-4E9A-AE5C-A0FB9AE20B8C}" type="datetimeFigureOut">
              <a:rPr lang="pt-BR" smtClean="0"/>
              <a:t>03/01/2026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D07F-C684-4DA4-A78F-54C160ACB2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3040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63B7E-0CEE-4E9A-AE5C-A0FB9AE20B8C}" type="datetimeFigureOut">
              <a:rPr lang="pt-BR" smtClean="0"/>
              <a:t>03/01/2026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D07F-C684-4DA4-A78F-54C160ACB2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9168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1963B7E-0CEE-4E9A-AE5C-A0FB9AE20B8C}" type="datetimeFigureOut">
              <a:rPr lang="pt-BR" smtClean="0"/>
              <a:t>03/01/2026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C5ED07F-C684-4DA4-A78F-54C160ACB2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84180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o.me/articles/tipos-de-operadores-em-python" TargetMode="External"/><Relationship Id="rId2" Type="http://schemas.openxmlformats.org/officeDocument/2006/relationships/hyperlink" Target="https://pythonacademy.com.br/blog/operadores-aritmeticos-e-logicos-em-python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earnbyexample.org/r-if-else-elseif-statemen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6FE754-F0C9-2BE8-3624-1874C5D8E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“</a:t>
            </a:r>
            <a:r>
              <a:rPr lang="pt-BR" dirty="0">
                <a:solidFill>
                  <a:srgbClr val="FF0000"/>
                </a:solidFill>
              </a:rPr>
              <a:t>Linguagem</a:t>
            </a:r>
            <a:r>
              <a:rPr lang="pt-BR" dirty="0"/>
              <a:t> de Programação”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641BDC-2401-AE6B-5251-6881F6E2A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semelhante a aprender um novo idioma</a:t>
            </a:r>
          </a:p>
          <a:p>
            <a:r>
              <a:rPr lang="pt-BR" dirty="0"/>
              <a:t>Não se usa o conhecimento do português como base para aprender inglês</a:t>
            </a:r>
          </a:p>
          <a:p>
            <a:r>
              <a:rPr lang="pt-BR" dirty="0"/>
              <a:t>A lógica da composição das frases e significado das palavras é totalmente diferente.</a:t>
            </a:r>
          </a:p>
          <a:p>
            <a:pPr marL="450000" lvl="1" indent="0">
              <a:buNone/>
            </a:pPr>
            <a:r>
              <a:rPr lang="pt-BR" dirty="0"/>
              <a:t>Exemplo: </a:t>
            </a:r>
          </a:p>
          <a:p>
            <a:pPr marL="450000" lvl="1" indent="0" algn="ctr">
              <a:buNone/>
            </a:pPr>
            <a:r>
              <a:rPr lang="pt-BR" dirty="0"/>
              <a:t>Frase em inglês: “I drink </a:t>
            </a:r>
            <a:r>
              <a:rPr lang="pt-BR" dirty="0" err="1"/>
              <a:t>milk</a:t>
            </a:r>
            <a:r>
              <a:rPr lang="pt-BR" dirty="0"/>
              <a:t> in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morning</a:t>
            </a:r>
            <a:r>
              <a:rPr lang="pt-BR" dirty="0"/>
              <a:t>”</a:t>
            </a:r>
          </a:p>
          <a:p>
            <a:pPr marL="450000" lvl="1" indent="0" algn="ctr">
              <a:buNone/>
            </a:pPr>
            <a:r>
              <a:rPr lang="pt-BR" dirty="0"/>
              <a:t> Tradução: “Eu bebo leite de manhã”</a:t>
            </a:r>
          </a:p>
          <a:p>
            <a:pPr marL="450000" lvl="1" indent="0" algn="ctr">
              <a:buNone/>
            </a:pPr>
            <a:r>
              <a:rPr lang="pt-BR" dirty="0"/>
              <a:t> Tradução Literal: “Eu bebo leite em a manhã”</a:t>
            </a:r>
          </a:p>
          <a:p>
            <a:pPr lvl="1"/>
            <a:r>
              <a:rPr lang="pt-BR" dirty="0"/>
              <a:t>É </a:t>
            </a:r>
            <a:r>
              <a:rPr lang="pt-BR"/>
              <a:t>importante vir </a:t>
            </a:r>
            <a:r>
              <a:rPr lang="pt-BR" dirty="0" err="1"/>
              <a:t>crú</a:t>
            </a:r>
            <a:r>
              <a:rPr lang="pt-BR" dirty="0"/>
              <a:t>, deixando toda bagagem para trás, começando como uma criança que não sabe de nada de nada.</a:t>
            </a:r>
          </a:p>
          <a:p>
            <a:pPr lvl="1"/>
            <a:r>
              <a:rPr lang="pt-BR" dirty="0"/>
              <a:t>Crie um segundo cérebro</a:t>
            </a:r>
          </a:p>
        </p:txBody>
      </p:sp>
    </p:spTree>
    <p:extLst>
      <p:ext uri="{BB962C8B-B14F-4D97-AF65-F5344CB8AC3E}">
        <p14:creationId xmlns:p14="http://schemas.microsoft.com/office/powerpoint/2010/main" val="1311818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0D87F3-CB1D-DE48-5870-56A0CD90F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Prática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5F2AC7-AE1D-CE60-243B-91CBD36B5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Programação é prática pura</a:t>
            </a:r>
          </a:p>
          <a:p>
            <a:r>
              <a:rPr lang="pt-BR" dirty="0"/>
              <a:t>Deixe a prática guiar a teoria, tire duvida testando</a:t>
            </a:r>
          </a:p>
          <a:p>
            <a:r>
              <a:rPr lang="pt-BR" dirty="0"/>
              <a:t>Pode tirar duvida testando</a:t>
            </a:r>
          </a:p>
          <a:p>
            <a:pPr marL="36900" indent="0" algn="ctr">
              <a:buNone/>
            </a:pPr>
            <a:r>
              <a:rPr lang="pt-BR" sz="2000" dirty="0">
                <a:sym typeface="Wingdings" panose="05000000000000000000" pitchFamily="2" charset="2"/>
              </a:rPr>
              <a:t>“De grão em grão a galinha enche o papo”</a:t>
            </a:r>
          </a:p>
          <a:p>
            <a:pPr marL="810000" lvl="2" indent="0">
              <a:buNone/>
            </a:pPr>
            <a:r>
              <a:rPr lang="pt-BR" sz="2000" dirty="0"/>
              <a:t>		Erro </a:t>
            </a:r>
            <a:r>
              <a:rPr lang="pt-BR" sz="2000" dirty="0">
                <a:sym typeface="Wingdings" panose="05000000000000000000" pitchFamily="2" charset="2"/>
              </a:rPr>
              <a:t> Erro  Erro  Acerto  </a:t>
            </a:r>
            <a:r>
              <a:rPr lang="pt-BR" sz="2000" dirty="0"/>
              <a:t>Erro </a:t>
            </a:r>
            <a:r>
              <a:rPr lang="pt-BR" sz="2000" dirty="0">
                <a:sym typeface="Wingdings" panose="05000000000000000000" pitchFamily="2" charset="2"/>
              </a:rPr>
              <a:t> Erro  Erro  Acerto</a:t>
            </a:r>
          </a:p>
          <a:p>
            <a:pPr marL="810000" lvl="2" indent="0">
              <a:buNone/>
            </a:pPr>
            <a:r>
              <a:rPr lang="pt-BR" sz="2000" dirty="0">
                <a:sym typeface="Wingdings" panose="05000000000000000000" pitchFamily="2" charset="2"/>
              </a:rPr>
              <a:t>Há mais erros do que acertos, </a:t>
            </a:r>
          </a:p>
          <a:p>
            <a:pPr marL="810000" lvl="2" indent="0">
              <a:buNone/>
            </a:pPr>
            <a:r>
              <a:rPr lang="pt-BR" sz="2000" dirty="0">
                <a:sym typeface="Wingdings" panose="05000000000000000000" pitchFamily="2" charset="2"/>
              </a:rPr>
              <a:t>Não ter medo de errar.</a:t>
            </a:r>
          </a:p>
          <a:p>
            <a:pPr marL="810000" lvl="2" indent="0">
              <a:buNone/>
            </a:pPr>
            <a:r>
              <a:rPr lang="pt-BR" sz="2000" dirty="0">
                <a:sym typeface="Wingdings" panose="05000000000000000000" pitchFamily="2" charset="2"/>
              </a:rPr>
              <a:t>Não ter frustação por </a:t>
            </a:r>
            <a:r>
              <a:rPr lang="pt-BR" sz="2000" dirty="0" err="1">
                <a:sym typeface="Wingdings" panose="05000000000000000000" pitchFamily="2" charset="2"/>
              </a:rPr>
              <a:t>frustar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21450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6C3A2-7D9C-D2BC-4A5C-AF2D9EB3C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 de Aula</a:t>
            </a:r>
          </a:p>
        </p:txBody>
      </p:sp>
      <p:pic>
        <p:nvPicPr>
          <p:cNvPr id="2052" name="Picture 4" descr="Informática Avançada: Estruturas sequenciais, condicionais e de repetição">
            <a:extLst>
              <a:ext uri="{FF2B5EF4-FFF2-40B4-BE49-F238E27FC236}">
                <a16:creationId xmlns:a16="http://schemas.microsoft.com/office/drawing/2014/main" id="{18ACE99E-247F-EE5E-64DA-6973C5D66B2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7231" y="1868274"/>
            <a:ext cx="7786890" cy="4380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593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48826-7405-ECD0-4E08-72917BCA4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0269BF-6EF0-7E03-C835-13E8DDC04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/>
          </a:bodyPr>
          <a:lstStyle/>
          <a:p>
            <a:r>
              <a:rPr lang="pt-BR" dirty="0"/>
              <a:t>Operadores Aritméticos</a:t>
            </a:r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0042D7A6-3F95-2DEC-6497-A968C9C7B2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220" y="1818174"/>
            <a:ext cx="9231398" cy="3820625"/>
          </a:xfrm>
        </p:spPr>
      </p:pic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035A5F18-6AC6-0476-A69A-4269A2327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6930136"/>
              </p:ext>
            </p:extLst>
          </p:nvPr>
        </p:nvGraphicFramePr>
        <p:xfrm>
          <a:off x="9451975" y="1818173"/>
          <a:ext cx="2520950" cy="38206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05672">
                  <a:extLst>
                    <a:ext uri="{9D8B030D-6E8A-4147-A177-3AD203B41FA5}">
                      <a16:colId xmlns:a16="http://schemas.microsoft.com/office/drawing/2014/main" val="2834516110"/>
                    </a:ext>
                  </a:extLst>
                </a:gridCol>
                <a:gridCol w="1315278">
                  <a:extLst>
                    <a:ext uri="{9D8B030D-6E8A-4147-A177-3AD203B41FA5}">
                      <a16:colId xmlns:a16="http://schemas.microsoft.com/office/drawing/2014/main" val="900969930"/>
                    </a:ext>
                  </a:extLst>
                </a:gridCol>
              </a:tblGrid>
              <a:tr h="47757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u="none" strike="noStrike" dirty="0">
                          <a:effectLst/>
                          <a:latin typeface="Consolas" panose="020B0609020204030204" pitchFamily="49" charset="0"/>
                        </a:rPr>
                        <a:t>equação</a:t>
                      </a:r>
                      <a:endParaRPr lang="pt-BR" sz="20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u="none" strike="noStrike" dirty="0">
                          <a:effectLst/>
                          <a:latin typeface="Consolas" panose="020B0609020204030204" pitchFamily="49" charset="0"/>
                        </a:rPr>
                        <a:t>resultado</a:t>
                      </a:r>
                      <a:endParaRPr lang="pt-BR" sz="20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73175254"/>
                  </a:ext>
                </a:extLst>
              </a:tr>
              <a:tr h="47757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u="none" strike="noStrike">
                          <a:effectLst/>
                          <a:latin typeface="Consolas" panose="020B0609020204030204" pitchFamily="49" charset="0"/>
                        </a:rPr>
                        <a:t>5 + 2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u="none" strike="noStrike" dirty="0">
                          <a:effectLst/>
                          <a:latin typeface="Consolas" panose="020B0609020204030204" pitchFamily="49" charset="0"/>
                        </a:rPr>
                        <a:t>7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49051300"/>
                  </a:ext>
                </a:extLst>
              </a:tr>
              <a:tr h="47757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u="none" strike="noStrike">
                          <a:effectLst/>
                          <a:latin typeface="Consolas" panose="020B0609020204030204" pitchFamily="49" charset="0"/>
                        </a:rPr>
                        <a:t>5 - 2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u="none" strike="noStrike" dirty="0">
                          <a:effectLst/>
                          <a:latin typeface="Consolas" panose="020B0609020204030204" pitchFamily="49" charset="0"/>
                        </a:rPr>
                        <a:t>3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1436579"/>
                  </a:ext>
                </a:extLst>
              </a:tr>
              <a:tr h="47757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u="none" strike="noStrike">
                          <a:effectLst/>
                          <a:latin typeface="Consolas" panose="020B0609020204030204" pitchFamily="49" charset="0"/>
                        </a:rPr>
                        <a:t>5 * 2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u="none" strike="noStrike" dirty="0">
                          <a:effectLst/>
                          <a:latin typeface="Consolas" panose="020B0609020204030204" pitchFamily="49" charset="0"/>
                        </a:rPr>
                        <a:t>10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48501902"/>
                  </a:ext>
                </a:extLst>
              </a:tr>
              <a:tr h="47757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u="none" strike="noStrike">
                          <a:effectLst/>
                          <a:latin typeface="Consolas" panose="020B0609020204030204" pitchFamily="49" charset="0"/>
                        </a:rPr>
                        <a:t>5 / 2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u="none" strike="noStrike" dirty="0">
                          <a:solidFill>
                            <a:srgbClr val="0070C0"/>
                          </a:solidFill>
                          <a:effectLst/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pt-BR" sz="2000" u="none" strike="noStrike" dirty="0">
                          <a:effectLst/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pt-BR" sz="2000" u="none" strike="noStrike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  <a:endParaRPr lang="pt-BR" sz="2000" b="0" i="0" u="none" strike="noStrike" dirty="0">
                        <a:solidFill>
                          <a:srgbClr val="00B05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13242222"/>
                  </a:ext>
                </a:extLst>
              </a:tr>
              <a:tr h="47757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u="none" strike="noStrike" dirty="0">
                          <a:effectLst/>
                          <a:latin typeface="Consolas" panose="020B0609020204030204" pitchFamily="49" charset="0"/>
                        </a:rPr>
                        <a:t>5 %/% 2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u="none" strike="noStrike" dirty="0">
                          <a:solidFill>
                            <a:srgbClr val="0070C0"/>
                          </a:solidFill>
                          <a:effectLst/>
                          <a:latin typeface="Consolas" panose="020B0609020204030204" pitchFamily="49" charset="0"/>
                        </a:rPr>
                        <a:t>2</a:t>
                      </a:r>
                      <a:endParaRPr lang="pt-BR" sz="2000" b="0" i="0" u="none" strike="noStrike" dirty="0">
                        <a:solidFill>
                          <a:srgbClr val="0070C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77695347"/>
                  </a:ext>
                </a:extLst>
              </a:tr>
              <a:tr h="47757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u="none" strike="noStrike" dirty="0">
                          <a:effectLst/>
                          <a:latin typeface="Consolas" panose="020B0609020204030204" pitchFamily="49" charset="0"/>
                        </a:rPr>
                        <a:t>5 %% 2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u="none" strike="noStrike" dirty="0">
                          <a:effectLst/>
                          <a:latin typeface="Consolas" panose="020B0609020204030204" pitchFamily="49" charset="0"/>
                        </a:rPr>
                        <a:t>0,</a:t>
                      </a:r>
                      <a:r>
                        <a:rPr lang="pt-BR" sz="2000" u="none" strike="noStrike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  <a:endParaRPr lang="pt-BR" sz="2000" b="0" i="0" u="none" strike="noStrike" dirty="0">
                        <a:solidFill>
                          <a:srgbClr val="00B05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04132526"/>
                  </a:ext>
                </a:extLst>
              </a:tr>
              <a:tr h="47757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u="none" strike="noStrike" dirty="0">
                          <a:effectLst/>
                          <a:latin typeface="Consolas" panose="020B0609020204030204" pitchFamily="49" charset="0"/>
                        </a:rPr>
                        <a:t>5^2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u="none" strike="noStrike" dirty="0">
                          <a:effectLst/>
                          <a:latin typeface="Consolas" panose="020B0609020204030204" pitchFamily="49" charset="0"/>
                        </a:rPr>
                        <a:t>25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9837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9108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60480-F9DC-E56B-B27A-3A256E6A0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6F7E89-39AE-BF3A-C678-2BA742FA4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/>
          </a:bodyPr>
          <a:lstStyle/>
          <a:p>
            <a:r>
              <a:rPr lang="pt-BR" dirty="0"/>
              <a:t>Operadores Relacionais</a:t>
            </a:r>
          </a:p>
        </p:txBody>
      </p:sp>
      <p:pic>
        <p:nvPicPr>
          <p:cNvPr id="10" name="Espaço Reservado para Conteúdo 9">
            <a:extLst>
              <a:ext uri="{FF2B5EF4-FFF2-40B4-BE49-F238E27FC236}">
                <a16:creationId xmlns:a16="http://schemas.microsoft.com/office/drawing/2014/main" id="{2629ED32-9EB6-6B65-CCA4-AF734D19D9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447" y="1766338"/>
            <a:ext cx="8696465" cy="3820623"/>
          </a:xfrm>
        </p:spPr>
      </p:pic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8EC23CE2-9F56-9513-428D-33F314F108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860827"/>
              </p:ext>
            </p:extLst>
          </p:nvPr>
        </p:nvGraphicFramePr>
        <p:xfrm>
          <a:off x="9066276" y="1797020"/>
          <a:ext cx="2813304" cy="382062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89431">
                  <a:extLst>
                    <a:ext uri="{9D8B030D-6E8A-4147-A177-3AD203B41FA5}">
                      <a16:colId xmlns:a16="http://schemas.microsoft.com/office/drawing/2014/main" val="4212233740"/>
                    </a:ext>
                  </a:extLst>
                </a:gridCol>
                <a:gridCol w="1523873">
                  <a:extLst>
                    <a:ext uri="{9D8B030D-6E8A-4147-A177-3AD203B41FA5}">
                      <a16:colId xmlns:a16="http://schemas.microsoft.com/office/drawing/2014/main" val="3949459491"/>
                    </a:ext>
                  </a:extLst>
                </a:gridCol>
              </a:tblGrid>
              <a:tr h="54580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u="none" strike="noStrike" dirty="0">
                          <a:effectLst/>
                          <a:latin typeface="Consolas" panose="020B0609020204030204" pitchFamily="49" charset="0"/>
                        </a:rPr>
                        <a:t>equação</a:t>
                      </a:r>
                      <a:endParaRPr lang="pt-BR" sz="20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u="none" strike="noStrike" dirty="0">
                          <a:effectLst/>
                          <a:latin typeface="Consolas" panose="020B0609020204030204" pitchFamily="49" charset="0"/>
                        </a:rPr>
                        <a:t>resultado</a:t>
                      </a:r>
                      <a:endParaRPr lang="pt-BR" sz="20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29352434"/>
                  </a:ext>
                </a:extLst>
              </a:tr>
              <a:tr h="54580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u="none" strike="noStrike" dirty="0">
                          <a:effectLst/>
                          <a:latin typeface="Consolas" panose="020B0609020204030204" pitchFamily="49" charset="0"/>
                        </a:rPr>
                        <a:t>5 == 2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False</a:t>
                      </a:r>
                      <a:endParaRPr lang="pt-BR" sz="2000" b="1" i="0" u="none" strike="noStrike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39189357"/>
                  </a:ext>
                </a:extLst>
              </a:tr>
              <a:tr h="54580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u="none" strike="noStrike">
                          <a:effectLst/>
                          <a:latin typeface="Consolas" panose="020B0609020204030204" pitchFamily="49" charset="0"/>
                        </a:rPr>
                        <a:t>5 != 2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 dirty="0" err="1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True</a:t>
                      </a:r>
                      <a:endParaRPr lang="pt-BR" sz="2000" b="1" i="0" u="none" strike="noStrike" dirty="0">
                        <a:solidFill>
                          <a:srgbClr val="00B05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57413257"/>
                  </a:ext>
                </a:extLst>
              </a:tr>
              <a:tr h="54580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u="none" strike="noStrike">
                          <a:effectLst/>
                          <a:latin typeface="Consolas" panose="020B0609020204030204" pitchFamily="49" charset="0"/>
                        </a:rPr>
                        <a:t>5 &gt; 2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 dirty="0" err="1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True</a:t>
                      </a:r>
                      <a:endParaRPr lang="pt-BR" sz="2000" b="1" i="0" u="none" strike="noStrike" dirty="0">
                        <a:solidFill>
                          <a:srgbClr val="00B05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49649982"/>
                  </a:ext>
                </a:extLst>
              </a:tr>
              <a:tr h="54580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u="none" strike="noStrike">
                          <a:effectLst/>
                          <a:latin typeface="Consolas" panose="020B0609020204030204" pitchFamily="49" charset="0"/>
                        </a:rPr>
                        <a:t>5 &gt;= 2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 dirty="0" err="1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True</a:t>
                      </a:r>
                      <a:endParaRPr lang="pt-BR" sz="2000" b="1" i="0" u="none" strike="noStrike" dirty="0">
                        <a:solidFill>
                          <a:srgbClr val="00B05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07820617"/>
                  </a:ext>
                </a:extLst>
              </a:tr>
              <a:tr h="54580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u="none" strike="noStrike">
                          <a:effectLst/>
                          <a:latin typeface="Consolas" panose="020B0609020204030204" pitchFamily="49" charset="0"/>
                        </a:rPr>
                        <a:t>5 &lt; 2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False</a:t>
                      </a:r>
                      <a:endParaRPr lang="pt-BR" sz="2000" b="1" i="0" u="none" strike="noStrike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28873513"/>
                  </a:ext>
                </a:extLst>
              </a:tr>
              <a:tr h="54580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u="none" strike="noStrike">
                          <a:effectLst/>
                          <a:latin typeface="Consolas" panose="020B0609020204030204" pitchFamily="49" charset="0"/>
                        </a:rPr>
                        <a:t>5 &lt;= 2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b="1" u="none" strike="noStrik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False</a:t>
                      </a:r>
                      <a:endParaRPr lang="pt-BR" sz="2000" b="1" i="0" u="none" strike="noStrike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05809436"/>
                  </a:ext>
                </a:extLst>
              </a:tr>
            </a:tbl>
          </a:graphicData>
        </a:graphic>
      </p:graphicFrame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986F841-3740-7BC3-82DA-666E3114716F}"/>
              </a:ext>
            </a:extLst>
          </p:cNvPr>
          <p:cNvSpPr/>
          <p:nvPr/>
        </p:nvSpPr>
        <p:spPr>
          <a:xfrm>
            <a:off x="913794" y="5786437"/>
            <a:ext cx="7818725" cy="6509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Servem para fazer Comparações e retornam uma afirmação</a:t>
            </a:r>
          </a:p>
        </p:txBody>
      </p:sp>
    </p:spTree>
    <p:extLst>
      <p:ext uri="{BB962C8B-B14F-4D97-AF65-F5344CB8AC3E}">
        <p14:creationId xmlns:p14="http://schemas.microsoft.com/office/powerpoint/2010/main" val="826563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38033A-A796-30EE-DC57-3C0B3BFA9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Relacionais em Palavras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6596921D-3EEA-3C27-53BB-1D7B818BC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616664"/>
              </p:ext>
            </p:extLst>
          </p:nvPr>
        </p:nvGraphicFramePr>
        <p:xfrm>
          <a:off x="3023313" y="1800415"/>
          <a:ext cx="6145373" cy="416147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753461">
                  <a:extLst>
                    <a:ext uri="{9D8B030D-6E8A-4147-A177-3AD203B41FA5}">
                      <a16:colId xmlns:a16="http://schemas.microsoft.com/office/drawing/2014/main" val="1761517496"/>
                    </a:ext>
                  </a:extLst>
                </a:gridCol>
                <a:gridCol w="2391912">
                  <a:extLst>
                    <a:ext uri="{9D8B030D-6E8A-4147-A177-3AD203B41FA5}">
                      <a16:colId xmlns:a16="http://schemas.microsoft.com/office/drawing/2014/main" val="1443187347"/>
                    </a:ext>
                  </a:extLst>
                </a:gridCol>
              </a:tblGrid>
              <a:tr h="61560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u="none" strike="noStrike" dirty="0">
                          <a:effectLst/>
                          <a:latin typeface="Consolas" panose="020B0609020204030204" pitchFamily="49" charset="0"/>
                        </a:rPr>
                        <a:t>equação</a:t>
                      </a:r>
                      <a:endParaRPr lang="pt-BR" sz="24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u="none" strike="noStrike">
                          <a:effectLst/>
                          <a:latin typeface="Consolas" panose="020B0609020204030204" pitchFamily="49" charset="0"/>
                        </a:rPr>
                        <a:t>resultado</a:t>
                      </a:r>
                      <a:endParaRPr lang="pt-BR" sz="2400" b="1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31826490"/>
                  </a:ext>
                </a:extLst>
              </a:tr>
              <a:tr h="59097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u="none" strike="noStrike" dirty="0"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pt-BR" sz="2400" u="none" strike="noStrike" dirty="0" err="1">
                          <a:effectLst/>
                          <a:latin typeface="Consolas" panose="020B0609020204030204" pitchFamily="49" charset="0"/>
                        </a:rPr>
                        <a:t>gabriel</a:t>
                      </a:r>
                      <a:r>
                        <a:rPr lang="pt-BR" sz="2400" u="none" strike="noStrike" dirty="0">
                          <a:effectLst/>
                          <a:latin typeface="Consolas" panose="020B0609020204030204" pitchFamily="49" charset="0"/>
                        </a:rPr>
                        <a:t>" == "</a:t>
                      </a:r>
                      <a:r>
                        <a:rPr lang="pt-BR" sz="2400" u="none" strike="noStrike" dirty="0" err="1">
                          <a:effectLst/>
                          <a:latin typeface="Consolas" panose="020B0609020204030204" pitchFamily="49" charset="0"/>
                        </a:rPr>
                        <a:t>renata</a:t>
                      </a:r>
                      <a:r>
                        <a:rPr lang="pt-BR" sz="2400" u="none" strike="noStrike" dirty="0"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endParaRPr lang="pt-BR" sz="24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u="none" strike="noStrike">
                          <a:effectLst/>
                          <a:latin typeface="Consolas" panose="020B0609020204030204" pitchFamily="49" charset="0"/>
                        </a:rPr>
                        <a:t>False</a:t>
                      </a:r>
                      <a:endParaRPr lang="pt-BR" sz="24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19598184"/>
                  </a:ext>
                </a:extLst>
              </a:tr>
              <a:tr h="59097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u="none" strike="noStrike">
                          <a:effectLst/>
                          <a:latin typeface="Consolas" panose="020B0609020204030204" pitchFamily="49" charset="0"/>
                        </a:rPr>
                        <a:t>"gabriel" != "renata"</a:t>
                      </a:r>
                      <a:endParaRPr lang="pt-BR" sz="24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u="none" strike="noStrike">
                          <a:effectLst/>
                          <a:latin typeface="Consolas" panose="020B0609020204030204" pitchFamily="49" charset="0"/>
                        </a:rPr>
                        <a:t>True</a:t>
                      </a:r>
                      <a:endParaRPr lang="pt-BR" sz="24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31261877"/>
                  </a:ext>
                </a:extLst>
              </a:tr>
              <a:tr h="59097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u="none" strike="noStrike" dirty="0"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pt-BR" sz="2400" u="none" strike="noStrike" dirty="0" err="1">
                          <a:effectLst/>
                          <a:latin typeface="Consolas" panose="020B0609020204030204" pitchFamily="49" charset="0"/>
                        </a:rPr>
                        <a:t>gabriel</a:t>
                      </a:r>
                      <a:r>
                        <a:rPr lang="pt-BR" sz="2400" u="none" strike="noStrike" dirty="0">
                          <a:effectLst/>
                          <a:latin typeface="Consolas" panose="020B0609020204030204" pitchFamily="49" charset="0"/>
                        </a:rPr>
                        <a:t>" &gt; "</a:t>
                      </a:r>
                      <a:r>
                        <a:rPr lang="pt-BR" sz="2400" u="none" strike="noStrike" dirty="0" err="1">
                          <a:effectLst/>
                          <a:latin typeface="Consolas" panose="020B0609020204030204" pitchFamily="49" charset="0"/>
                        </a:rPr>
                        <a:t>renata</a:t>
                      </a:r>
                      <a:r>
                        <a:rPr lang="pt-BR" sz="2400" u="none" strike="noStrike" dirty="0"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endParaRPr lang="pt-BR" sz="24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pt-BR" sz="2400" u="none" strike="noStrike" dirty="0">
                          <a:effectLst/>
                          <a:latin typeface="Consolas" panose="020B0609020204030204" pitchFamily="49" charset="0"/>
                        </a:rPr>
                        <a:t>Comparação Lexicográfica</a:t>
                      </a:r>
                      <a:endParaRPr lang="pt-BR" sz="24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60866605"/>
                  </a:ext>
                </a:extLst>
              </a:tr>
              <a:tr h="59097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u="none" strike="noStrike" dirty="0"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pt-BR" sz="2400" u="none" strike="noStrike" dirty="0" err="1">
                          <a:effectLst/>
                          <a:latin typeface="Consolas" panose="020B0609020204030204" pitchFamily="49" charset="0"/>
                        </a:rPr>
                        <a:t>gabriel</a:t>
                      </a:r>
                      <a:r>
                        <a:rPr lang="pt-BR" sz="2400" u="none" strike="noStrike" dirty="0">
                          <a:effectLst/>
                          <a:latin typeface="Consolas" panose="020B0609020204030204" pitchFamily="49" charset="0"/>
                        </a:rPr>
                        <a:t>" &gt;= "</a:t>
                      </a:r>
                      <a:r>
                        <a:rPr lang="pt-BR" sz="2400" u="none" strike="noStrike" dirty="0" err="1">
                          <a:effectLst/>
                          <a:latin typeface="Consolas" panose="020B0609020204030204" pitchFamily="49" charset="0"/>
                        </a:rPr>
                        <a:t>renata</a:t>
                      </a:r>
                      <a:r>
                        <a:rPr lang="pt-BR" sz="2400" u="none" strike="noStrike" dirty="0"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endParaRPr lang="pt-BR" sz="24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711775"/>
                  </a:ext>
                </a:extLst>
              </a:tr>
              <a:tr h="59097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u="none" strike="noStrike" dirty="0"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pt-BR" sz="2400" u="none" strike="noStrike" dirty="0" err="1">
                          <a:effectLst/>
                          <a:latin typeface="Consolas" panose="020B0609020204030204" pitchFamily="49" charset="0"/>
                        </a:rPr>
                        <a:t>gabriel</a:t>
                      </a:r>
                      <a:r>
                        <a:rPr lang="pt-BR" sz="2400" u="none" strike="noStrike" dirty="0">
                          <a:effectLst/>
                          <a:latin typeface="Consolas" panose="020B0609020204030204" pitchFamily="49" charset="0"/>
                        </a:rPr>
                        <a:t>" &lt; "</a:t>
                      </a:r>
                      <a:r>
                        <a:rPr lang="pt-BR" sz="2400" u="none" strike="noStrike" dirty="0" err="1">
                          <a:effectLst/>
                          <a:latin typeface="Consolas" panose="020B0609020204030204" pitchFamily="49" charset="0"/>
                        </a:rPr>
                        <a:t>renata</a:t>
                      </a:r>
                      <a:r>
                        <a:rPr lang="pt-BR" sz="2400" u="none" strike="noStrike" dirty="0"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endParaRPr lang="pt-BR" sz="24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8999365"/>
                  </a:ext>
                </a:extLst>
              </a:tr>
              <a:tr h="59097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400" u="none" strike="noStrike" dirty="0"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pt-BR" sz="2400" u="none" strike="noStrike" dirty="0" err="1">
                          <a:effectLst/>
                          <a:latin typeface="Consolas" panose="020B0609020204030204" pitchFamily="49" charset="0"/>
                        </a:rPr>
                        <a:t>gabriel</a:t>
                      </a:r>
                      <a:r>
                        <a:rPr lang="pt-BR" sz="2400" u="none" strike="noStrike" dirty="0">
                          <a:effectLst/>
                          <a:latin typeface="Consolas" panose="020B0609020204030204" pitchFamily="49" charset="0"/>
                        </a:rPr>
                        <a:t>" &lt;= "</a:t>
                      </a:r>
                      <a:r>
                        <a:rPr lang="pt-BR" sz="2400" u="none" strike="noStrike" dirty="0" err="1">
                          <a:effectLst/>
                          <a:latin typeface="Consolas" panose="020B0609020204030204" pitchFamily="49" charset="0"/>
                        </a:rPr>
                        <a:t>renata</a:t>
                      </a:r>
                      <a:r>
                        <a:rPr lang="pt-BR" sz="2400" u="none" strike="noStrike" dirty="0"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endParaRPr lang="pt-BR" sz="24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6791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7918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09B0E7-1F11-FEDE-7BA4-FB6A8AEB7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Lógicos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8A2216A1-7604-7A5A-8642-4F58ED9CE8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147449"/>
              </p:ext>
            </p:extLst>
          </p:nvPr>
        </p:nvGraphicFramePr>
        <p:xfrm>
          <a:off x="8202764" y="1757476"/>
          <a:ext cx="3706241" cy="334304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23161">
                  <a:extLst>
                    <a:ext uri="{9D8B030D-6E8A-4147-A177-3AD203B41FA5}">
                      <a16:colId xmlns:a16="http://schemas.microsoft.com/office/drawing/2014/main" val="283451611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900969930"/>
                    </a:ext>
                  </a:extLst>
                </a:gridCol>
              </a:tblGrid>
              <a:tr h="47757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u="none" strike="noStrike" dirty="0">
                          <a:effectLst/>
                          <a:latin typeface="Consolas" panose="020B0609020204030204" pitchFamily="49" charset="0"/>
                        </a:rPr>
                        <a:t>equação</a:t>
                      </a:r>
                      <a:endParaRPr lang="pt-BR" sz="20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u="none" strike="noStrike" dirty="0">
                          <a:effectLst/>
                          <a:latin typeface="Consolas" panose="020B0609020204030204" pitchFamily="49" charset="0"/>
                        </a:rPr>
                        <a:t>resultado</a:t>
                      </a:r>
                      <a:endParaRPr lang="pt-BR" sz="20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73175254"/>
                  </a:ext>
                </a:extLst>
              </a:tr>
              <a:tr h="47757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u="none" strike="noStrike" dirty="0">
                          <a:effectLst/>
                          <a:latin typeface="Consolas" panose="020B0609020204030204" pitchFamily="49" charset="0"/>
                        </a:rPr>
                        <a:t>5&gt;2 &amp;&amp; 5&gt;3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pt-BR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True</a:t>
                      </a:r>
                      <a:endParaRPr lang="pt-BR" sz="2000" b="0" i="0" u="none" strike="noStrike" dirty="0">
                        <a:solidFill>
                          <a:srgbClr val="00B05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49051300"/>
                  </a:ext>
                </a:extLst>
              </a:tr>
              <a:tr h="47757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u="none" strike="noStrike" dirty="0">
                          <a:effectLst/>
                          <a:latin typeface="Consolas" panose="020B0609020204030204" pitchFamily="49" charset="0"/>
                        </a:rPr>
                        <a:t>5&gt;7 &amp;&amp; 5&gt;3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pt-BR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False</a:t>
                      </a:r>
                      <a:endParaRPr lang="pt-BR" sz="2000" b="0" i="0" u="none" strike="noStrike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1436579"/>
                  </a:ext>
                </a:extLst>
              </a:tr>
              <a:tr h="47757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u="none" strike="noStrike" dirty="0">
                          <a:effectLst/>
                          <a:latin typeface="Consolas" panose="020B0609020204030204" pitchFamily="49" charset="0"/>
                        </a:rPr>
                        <a:t>5&gt;7 || 5&gt;3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pt-BR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True</a:t>
                      </a:r>
                      <a:endParaRPr lang="pt-BR" sz="2000" b="0" i="0" u="none" strike="noStrike" dirty="0">
                        <a:solidFill>
                          <a:srgbClr val="00B05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48501902"/>
                  </a:ext>
                </a:extLst>
              </a:tr>
              <a:tr h="47757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u="none" strike="noStrike" dirty="0">
                          <a:effectLst/>
                          <a:latin typeface="Consolas" panose="020B0609020204030204" pitchFamily="49" charset="0"/>
                        </a:rPr>
                        <a:t>5&gt;7 || 5&gt;8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pt-BR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False</a:t>
                      </a:r>
                      <a:endParaRPr lang="pt-BR" sz="2000" b="0" i="0" u="none" strike="noStrike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13242222"/>
                  </a:ext>
                </a:extLst>
              </a:tr>
              <a:tr h="47757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u="none" strike="noStrike" dirty="0">
                          <a:effectLst/>
                          <a:latin typeface="Consolas" panose="020B0609020204030204" pitchFamily="49" charset="0"/>
                        </a:rPr>
                        <a:t>!(5&gt;2)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pt-BR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False</a:t>
                      </a:r>
                      <a:endParaRPr lang="pt-BR" sz="2000" b="0" i="0" u="none" strike="noStrike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77695347"/>
                  </a:ext>
                </a:extLst>
              </a:tr>
              <a:tr h="47757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000" u="none" strike="noStrike" dirty="0">
                          <a:effectLst/>
                          <a:latin typeface="Consolas" panose="020B0609020204030204" pitchFamily="49" charset="0"/>
                        </a:rPr>
                        <a:t>!(5&gt;7)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pt-BR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True</a:t>
                      </a:r>
                      <a:endParaRPr lang="pt-BR" sz="2000" b="0" i="0" u="none" strike="noStrike" dirty="0">
                        <a:solidFill>
                          <a:srgbClr val="00B05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04132526"/>
                  </a:ext>
                </a:extLst>
              </a:tr>
            </a:tbl>
          </a:graphicData>
        </a:graphic>
      </p:graphicFrame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0FA190D8-2FD2-B80E-49F9-50C74BA577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841" y="2142582"/>
            <a:ext cx="7948246" cy="2572835"/>
          </a:xfr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866930D0-7A84-2B13-757E-818904B18FD2}"/>
              </a:ext>
            </a:extLst>
          </p:cNvPr>
          <p:cNvSpPr/>
          <p:nvPr/>
        </p:nvSpPr>
        <p:spPr>
          <a:xfrm>
            <a:off x="1737414" y="4514248"/>
            <a:ext cx="4701100" cy="4023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Inverte afirmação</a:t>
            </a:r>
          </a:p>
        </p:txBody>
      </p:sp>
    </p:spTree>
    <p:extLst>
      <p:ext uri="{BB962C8B-B14F-4D97-AF65-F5344CB8AC3E}">
        <p14:creationId xmlns:p14="http://schemas.microsoft.com/office/powerpoint/2010/main" val="1172665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0CE1EE-3B42-73DD-11F2-EFF913EB1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 de Variáveis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3F332D-6817-73C1-D47E-B2FECF3B3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489995"/>
            <a:ext cx="10353762" cy="2143360"/>
          </a:xfrm>
        </p:spPr>
        <p:txBody>
          <a:bodyPr>
            <a:normAutofit/>
          </a:bodyPr>
          <a:lstStyle/>
          <a:p>
            <a:r>
              <a:rPr lang="pt-BR" sz="2400" dirty="0"/>
              <a:t> De forma simplificada, uma variável pode ser entendida como um nome simbólico para um espaço de armazenamento que o computador pode usar para guardar dados que serão manipulados pelo programa.</a:t>
            </a:r>
          </a:p>
          <a:p>
            <a:r>
              <a:rPr lang="pt-BR" sz="2400" dirty="0"/>
              <a:t>Pense em variáveis como os campos que você preenche em prontuários para identificar um paciente e descrever seus detalhes. Por exemplo: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7A62C7F-D867-616C-099A-E69DE23B9DA6}"/>
              </a:ext>
            </a:extLst>
          </p:cNvPr>
          <p:cNvSpPr txBox="1"/>
          <p:nvPr/>
        </p:nvSpPr>
        <p:spPr>
          <a:xfrm>
            <a:off x="1103586" y="3723410"/>
            <a:ext cx="466989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atendimento = 3141592</a:t>
            </a:r>
          </a:p>
          <a:p>
            <a:pPr lvl="1"/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nome = “Gabriel”</a:t>
            </a:r>
          </a:p>
          <a:p>
            <a:pPr lvl="1"/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idade &lt;- 23</a:t>
            </a:r>
          </a:p>
          <a:p>
            <a:pPr lvl="1"/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ASA = 1</a:t>
            </a:r>
          </a:p>
          <a:p>
            <a:pPr lvl="1"/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altura &lt;- 1.67</a:t>
            </a:r>
          </a:p>
          <a:p>
            <a:pPr lvl="1"/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Diagnostico = “enxaqueca”</a:t>
            </a:r>
          </a:p>
          <a:p>
            <a:pPr lvl="1"/>
            <a:r>
              <a:rPr lang="pt-B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medicacao_prescrita</a:t>
            </a: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“Dipirona”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6633BDF-E392-3796-7D3A-47276F2D159C}"/>
              </a:ext>
            </a:extLst>
          </p:cNvPr>
          <p:cNvSpPr/>
          <p:nvPr/>
        </p:nvSpPr>
        <p:spPr>
          <a:xfrm>
            <a:off x="5666778" y="3723410"/>
            <a:ext cx="6321353" cy="2708829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Regras de criação de variáveis: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Não pode ter espaço no nome da variável (use _ ao invés)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Não pode conter caracteres especiais (ç^~.&gt;)</a:t>
            </a:r>
          </a:p>
          <a:p>
            <a:endParaRPr lang="pt-BR" dirty="0"/>
          </a:p>
          <a:p>
            <a:pPr lvl="1">
              <a:lnSpc>
                <a:spcPct val="150000"/>
              </a:lnSpc>
            </a:pPr>
            <a:r>
              <a:rPr lang="pt-BR" dirty="0">
                <a:highlight>
                  <a:srgbClr val="FF0000"/>
                </a:highlight>
              </a:rPr>
              <a:t>Incorreto: medicação prescrita = “dipirona”</a:t>
            </a:r>
          </a:p>
          <a:p>
            <a:pPr lvl="1">
              <a:lnSpc>
                <a:spcPct val="150000"/>
              </a:lnSpc>
            </a:pPr>
            <a:r>
              <a:rPr lang="pt-BR" dirty="0">
                <a:highlight>
                  <a:srgbClr val="008000"/>
                </a:highlight>
              </a:rPr>
              <a:t>Correto: </a:t>
            </a:r>
            <a:r>
              <a:rPr lang="pt-BR" dirty="0" err="1">
                <a:highlight>
                  <a:srgbClr val="008000"/>
                </a:highlight>
              </a:rPr>
              <a:t>medicacao_prescrita</a:t>
            </a:r>
            <a:r>
              <a:rPr lang="pt-BR" dirty="0">
                <a:highlight>
                  <a:srgbClr val="008000"/>
                </a:highlight>
              </a:rPr>
              <a:t> = “dipirona</a:t>
            </a:r>
          </a:p>
        </p:txBody>
      </p:sp>
    </p:spTree>
    <p:extLst>
      <p:ext uri="{BB962C8B-B14F-4D97-AF65-F5344CB8AC3E}">
        <p14:creationId xmlns:p14="http://schemas.microsoft.com/office/powerpoint/2010/main" val="2568185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755C06-1325-A788-48A5-19F97C762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Declarar Variável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24BCC5-06D8-56F7-1B58-798FB6769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125" y="1755210"/>
            <a:ext cx="11173102" cy="970451"/>
          </a:xfrm>
        </p:spPr>
        <p:txBody>
          <a:bodyPr>
            <a:normAutofit/>
          </a:bodyPr>
          <a:lstStyle/>
          <a:p>
            <a:r>
              <a:rPr lang="pt-BR" dirty="0"/>
              <a:t>Para definir um variável bastar colocar o </a:t>
            </a:r>
            <a:r>
              <a:rPr lang="pt-BR" dirty="0">
                <a:highlight>
                  <a:srgbClr val="000080"/>
                </a:highlight>
              </a:rPr>
              <a:t>nome da variável,</a:t>
            </a:r>
            <a:r>
              <a:rPr lang="pt-BR" dirty="0"/>
              <a:t> </a:t>
            </a:r>
            <a:r>
              <a:rPr lang="pt-BR" dirty="0">
                <a:highlight>
                  <a:srgbClr val="008000"/>
                </a:highlight>
              </a:rPr>
              <a:t>sinal de igual (=)</a:t>
            </a:r>
            <a:r>
              <a:rPr lang="pt-BR" dirty="0"/>
              <a:t> e a </a:t>
            </a:r>
            <a:r>
              <a:rPr lang="pt-BR" dirty="0">
                <a:highlight>
                  <a:srgbClr val="800000"/>
                </a:highlight>
              </a:rPr>
              <a:t>informação/dado</a:t>
            </a:r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139B1A6-D609-C3D9-B1F4-D69EDA48DB99}"/>
              </a:ext>
            </a:extLst>
          </p:cNvPr>
          <p:cNvSpPr txBox="1"/>
          <p:nvPr/>
        </p:nvSpPr>
        <p:spPr>
          <a:xfrm>
            <a:off x="2624553" y="2702900"/>
            <a:ext cx="6932246" cy="3318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600" dirty="0">
                <a:highlight>
                  <a:srgbClr val="000080"/>
                </a:highlight>
                <a:latin typeface="Consolas" panose="020B0609020204030204" pitchFamily="49" charset="0"/>
              </a:rPr>
              <a:t>nome</a:t>
            </a:r>
            <a:r>
              <a:rPr lang="pt-BR" sz="3600" dirty="0">
                <a:latin typeface="Consolas" panose="020B0609020204030204" pitchFamily="49" charset="0"/>
              </a:rPr>
              <a:t> </a:t>
            </a:r>
            <a:r>
              <a:rPr lang="pt-BR" sz="3600" dirty="0">
                <a:highlight>
                  <a:srgbClr val="008000"/>
                </a:highlight>
                <a:latin typeface="Consolas" panose="020B0609020204030204" pitchFamily="49" charset="0"/>
              </a:rPr>
              <a:t>=</a:t>
            </a:r>
            <a:r>
              <a:rPr lang="pt-BR" sz="3600" dirty="0">
                <a:latin typeface="Consolas" panose="020B0609020204030204" pitchFamily="49" charset="0"/>
              </a:rPr>
              <a:t> </a:t>
            </a:r>
            <a:r>
              <a:rPr lang="pt-BR" sz="3600" dirty="0">
                <a:highlight>
                  <a:srgbClr val="800000"/>
                </a:highlight>
                <a:latin typeface="Consolas" panose="020B0609020204030204" pitchFamily="49" charset="0"/>
              </a:rPr>
              <a:t>“</a:t>
            </a:r>
            <a:r>
              <a:rPr lang="pt-BR" sz="3600" dirty="0" err="1">
                <a:highlight>
                  <a:srgbClr val="800000"/>
                </a:highlight>
                <a:latin typeface="Consolas" panose="020B0609020204030204" pitchFamily="49" charset="0"/>
              </a:rPr>
              <a:t>gabriel</a:t>
            </a:r>
            <a:r>
              <a:rPr lang="pt-BR" sz="3600" dirty="0">
                <a:highlight>
                  <a:srgbClr val="800000"/>
                </a:highlight>
                <a:latin typeface="Consolas" panose="020B0609020204030204" pitchFamily="49" charset="0"/>
              </a:rPr>
              <a:t>”</a:t>
            </a:r>
          </a:p>
          <a:p>
            <a:pPr algn="ctr">
              <a:lnSpc>
                <a:spcPct val="150000"/>
              </a:lnSpc>
            </a:pPr>
            <a:r>
              <a:rPr lang="pt-BR" sz="3600" dirty="0">
                <a:highlight>
                  <a:srgbClr val="000080"/>
                </a:highlight>
                <a:latin typeface="Consolas" panose="020B0609020204030204" pitchFamily="49" charset="0"/>
              </a:rPr>
              <a:t>idade</a:t>
            </a:r>
            <a:r>
              <a:rPr lang="pt-BR" sz="3600" dirty="0">
                <a:latin typeface="Consolas" panose="020B0609020204030204" pitchFamily="49" charset="0"/>
              </a:rPr>
              <a:t> </a:t>
            </a:r>
            <a:r>
              <a:rPr lang="pt-BR" sz="3600" dirty="0">
                <a:highlight>
                  <a:srgbClr val="008000"/>
                </a:highlight>
                <a:latin typeface="Consolas" panose="020B0609020204030204" pitchFamily="49" charset="0"/>
              </a:rPr>
              <a:t>&lt;-</a:t>
            </a:r>
            <a:r>
              <a:rPr lang="pt-BR" sz="3600" dirty="0">
                <a:latin typeface="Consolas" panose="020B0609020204030204" pitchFamily="49" charset="0"/>
              </a:rPr>
              <a:t> </a:t>
            </a:r>
            <a:r>
              <a:rPr lang="pt-BR" sz="3600" dirty="0">
                <a:highlight>
                  <a:srgbClr val="800000"/>
                </a:highlight>
                <a:latin typeface="Consolas" panose="020B0609020204030204" pitchFamily="49" charset="0"/>
              </a:rPr>
              <a:t>23</a:t>
            </a:r>
          </a:p>
          <a:p>
            <a:pPr algn="ctr">
              <a:lnSpc>
                <a:spcPct val="150000"/>
              </a:lnSpc>
            </a:pPr>
            <a:r>
              <a:rPr lang="pt-BR" sz="3600" dirty="0">
                <a:highlight>
                  <a:srgbClr val="000080"/>
                </a:highlight>
                <a:latin typeface="Consolas" panose="020B0609020204030204" pitchFamily="49" charset="0"/>
              </a:rPr>
              <a:t>altura</a:t>
            </a:r>
            <a:r>
              <a:rPr lang="pt-BR" sz="3600" dirty="0">
                <a:latin typeface="Consolas" panose="020B0609020204030204" pitchFamily="49" charset="0"/>
              </a:rPr>
              <a:t> </a:t>
            </a:r>
            <a:r>
              <a:rPr lang="pt-BR" sz="3600" dirty="0">
                <a:highlight>
                  <a:srgbClr val="008000"/>
                </a:highlight>
                <a:latin typeface="Consolas" panose="020B0609020204030204" pitchFamily="49" charset="0"/>
              </a:rPr>
              <a:t>=</a:t>
            </a:r>
            <a:r>
              <a:rPr lang="pt-BR" sz="3600" dirty="0">
                <a:latin typeface="Consolas" panose="020B0609020204030204" pitchFamily="49" charset="0"/>
              </a:rPr>
              <a:t> </a:t>
            </a:r>
            <a:r>
              <a:rPr lang="pt-BR" sz="3600" dirty="0">
                <a:highlight>
                  <a:srgbClr val="800000"/>
                </a:highlight>
                <a:latin typeface="Consolas" panose="020B0609020204030204" pitchFamily="49" charset="0"/>
              </a:rPr>
              <a:t>1.67</a:t>
            </a:r>
          </a:p>
          <a:p>
            <a:pPr algn="ctr">
              <a:lnSpc>
                <a:spcPct val="150000"/>
              </a:lnSpc>
            </a:pPr>
            <a:r>
              <a:rPr lang="pt-BR" sz="3600" dirty="0">
                <a:highlight>
                  <a:srgbClr val="000080"/>
                </a:highlight>
                <a:latin typeface="Consolas" panose="020B0609020204030204" pitchFamily="49" charset="0"/>
              </a:rPr>
              <a:t>diagnostico</a:t>
            </a:r>
            <a:r>
              <a:rPr lang="pt-BR" sz="3600" dirty="0">
                <a:latin typeface="Consolas" panose="020B0609020204030204" pitchFamily="49" charset="0"/>
              </a:rPr>
              <a:t> </a:t>
            </a:r>
            <a:r>
              <a:rPr lang="pt-BR" sz="3600" dirty="0">
                <a:highlight>
                  <a:srgbClr val="008000"/>
                </a:highlight>
                <a:latin typeface="Consolas" panose="020B0609020204030204" pitchFamily="49" charset="0"/>
              </a:rPr>
              <a:t>=</a:t>
            </a:r>
            <a:r>
              <a:rPr lang="pt-BR" sz="3600" dirty="0">
                <a:latin typeface="Consolas" panose="020B0609020204030204" pitchFamily="49" charset="0"/>
              </a:rPr>
              <a:t> </a:t>
            </a:r>
            <a:r>
              <a:rPr lang="pt-BR" sz="3600" dirty="0">
                <a:highlight>
                  <a:srgbClr val="800000"/>
                </a:highlight>
                <a:latin typeface="Consolas" panose="020B0609020204030204" pitchFamily="49" charset="0"/>
              </a:rPr>
              <a:t>“enxaqueca”</a:t>
            </a:r>
          </a:p>
        </p:txBody>
      </p:sp>
    </p:spTree>
    <p:extLst>
      <p:ext uri="{BB962C8B-B14F-4D97-AF65-F5344CB8AC3E}">
        <p14:creationId xmlns:p14="http://schemas.microsoft.com/office/powerpoint/2010/main" val="1164941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7C70A4-50EF-A812-C5AB-CF6FA72A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de atribuição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A33F7A9F-E100-166B-9BE9-4481326B03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178" y="1949699"/>
            <a:ext cx="11881643" cy="3264325"/>
          </a:xfrm>
        </p:spPr>
      </p:pic>
    </p:spTree>
    <p:extLst>
      <p:ext uri="{BB962C8B-B14F-4D97-AF65-F5344CB8AC3E}">
        <p14:creationId xmlns:p14="http://schemas.microsoft.com/office/powerpoint/2010/main" val="23983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0BFA52-27C4-EB4A-9FCE-1DD39BD14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485278"/>
            <a:ext cx="10353762" cy="970450"/>
          </a:xfrm>
        </p:spPr>
        <p:txBody>
          <a:bodyPr/>
          <a:lstStyle/>
          <a:p>
            <a:r>
              <a:rPr lang="pt-BR" dirty="0"/>
              <a:t>Condicional única simples</a:t>
            </a:r>
          </a:p>
        </p:txBody>
      </p:sp>
      <p:pic>
        <p:nvPicPr>
          <p:cNvPr id="1030" name="Picture 6" descr="R if else elseif Statement - Learn By Example">
            <a:extLst>
              <a:ext uri="{FF2B5EF4-FFF2-40B4-BE49-F238E27FC236}">
                <a16:creationId xmlns:a16="http://schemas.microsoft.com/office/drawing/2014/main" id="{3CCF8880-0B11-1666-99BC-9B7866E35F5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10"/>
          <a:stretch/>
        </p:blipFill>
        <p:spPr bwMode="auto">
          <a:xfrm>
            <a:off x="2194519" y="1455728"/>
            <a:ext cx="7792313" cy="4916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0501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F3FBE-3E78-2BF8-BD0A-360511BA9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29CF16-1851-2688-40F5-BFD8990BC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67807"/>
            <a:ext cx="10353762" cy="970450"/>
          </a:xfrm>
        </p:spPr>
        <p:txBody>
          <a:bodyPr/>
          <a:lstStyle/>
          <a:p>
            <a:r>
              <a:rPr lang="pt-BR" dirty="0"/>
              <a:t>Robô Médico </a:t>
            </a:r>
          </a:p>
        </p:txBody>
      </p:sp>
      <p:pic>
        <p:nvPicPr>
          <p:cNvPr id="1026" name="Picture 2" descr="Robô médico - ícones de tecnologia grátis">
            <a:extLst>
              <a:ext uri="{FF2B5EF4-FFF2-40B4-BE49-F238E27FC236}">
                <a16:creationId xmlns:a16="http://schemas.microsoft.com/office/drawing/2014/main" id="{BCDE14E0-97A8-771A-F24F-F9E64B29978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201" y="1138257"/>
            <a:ext cx="4046538" cy="4046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6390124-64CD-7FD4-F979-35A5D2CA9611}"/>
              </a:ext>
            </a:extLst>
          </p:cNvPr>
          <p:cNvSpPr txBox="1"/>
          <p:nvPr/>
        </p:nvSpPr>
        <p:spPr>
          <a:xfrm>
            <a:off x="5811918" y="1138257"/>
            <a:ext cx="51768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Instrução:</a:t>
            </a:r>
          </a:p>
          <a:p>
            <a:pPr lvl="1"/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o paciente tiver com a temperatura maior do que 36 graus classifique-o como “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Febrio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AB0BB4-EFC7-21A1-DF31-5B79F1E58B3B}"/>
              </a:ext>
            </a:extLst>
          </p:cNvPr>
          <p:cNvSpPr txBox="1"/>
          <p:nvPr/>
        </p:nvSpPr>
        <p:spPr>
          <a:xfrm>
            <a:off x="6096000" y="2893537"/>
            <a:ext cx="49767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 err="1"/>
              <a:t>Pseudo-Código</a:t>
            </a:r>
            <a:r>
              <a:rPr lang="pt-BR" sz="2400" b="1" dirty="0"/>
              <a:t>:</a:t>
            </a:r>
          </a:p>
          <a:p>
            <a:pPr lvl="1"/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temperatura &gt; 36:</a:t>
            </a:r>
          </a:p>
          <a:p>
            <a:pPr lvl="1"/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Aplicar dipirona</a:t>
            </a:r>
          </a:p>
          <a:p>
            <a:endParaRPr lang="pt-BR" sz="2400" dirty="0"/>
          </a:p>
        </p:txBody>
      </p:sp>
      <p:sp>
        <p:nvSpPr>
          <p:cNvPr id="9" name="Retângulo: Biselado 8">
            <a:extLst>
              <a:ext uri="{FF2B5EF4-FFF2-40B4-BE49-F238E27FC236}">
                <a16:creationId xmlns:a16="http://schemas.microsoft.com/office/drawing/2014/main" id="{FB124212-BEAA-3BEA-9BF8-79301FF118C5}"/>
              </a:ext>
            </a:extLst>
          </p:cNvPr>
          <p:cNvSpPr/>
          <p:nvPr/>
        </p:nvSpPr>
        <p:spPr>
          <a:xfrm>
            <a:off x="0" y="6369269"/>
            <a:ext cx="567559" cy="488731"/>
          </a:xfrm>
          <a:prstGeom prst="bevel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96260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CFB95-2285-4F9B-F170-BFF18ABD2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D0A82E-079D-90F3-3493-1C3F1BEBB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485278"/>
            <a:ext cx="10353762" cy="970450"/>
          </a:xfrm>
        </p:spPr>
        <p:txBody>
          <a:bodyPr/>
          <a:lstStyle/>
          <a:p>
            <a:r>
              <a:rPr lang="pt-BR" dirty="0"/>
              <a:t>Condicional composta – (</a:t>
            </a:r>
            <a:r>
              <a:rPr lang="pt-BR" dirty="0" err="1"/>
              <a:t>if</a:t>
            </a:r>
            <a:r>
              <a:rPr lang="pt-BR" dirty="0"/>
              <a:t>, </a:t>
            </a:r>
            <a:r>
              <a:rPr lang="pt-BR" dirty="0" err="1"/>
              <a:t>else</a:t>
            </a:r>
            <a:r>
              <a:rPr lang="pt-BR" dirty="0"/>
              <a:t>)</a:t>
            </a:r>
          </a:p>
        </p:txBody>
      </p:sp>
      <p:pic>
        <p:nvPicPr>
          <p:cNvPr id="5124" name="Picture 4" descr="r if else statement syntax">
            <a:extLst>
              <a:ext uri="{FF2B5EF4-FFF2-40B4-BE49-F238E27FC236}">
                <a16:creationId xmlns:a16="http://schemas.microsoft.com/office/drawing/2014/main" id="{131097A7-129E-2994-DCEE-D151EEB8CB3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27"/>
          <a:stretch/>
        </p:blipFill>
        <p:spPr bwMode="auto">
          <a:xfrm>
            <a:off x="2494161" y="1455728"/>
            <a:ext cx="7203678" cy="5071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8758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BB44A3-9874-0736-20B8-6B3AA2894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Robô Médico </a:t>
            </a:r>
          </a:p>
        </p:txBody>
      </p:sp>
      <p:pic>
        <p:nvPicPr>
          <p:cNvPr id="1026" name="Picture 2" descr="Robô médico - ícones de tecnologia grátis">
            <a:extLst>
              <a:ext uri="{FF2B5EF4-FFF2-40B4-BE49-F238E27FC236}">
                <a16:creationId xmlns:a16="http://schemas.microsoft.com/office/drawing/2014/main" id="{717D2803-829F-8008-78E5-0C1A8BA6D88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283" y="1580050"/>
            <a:ext cx="4046538" cy="4046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14D0271C-F665-F9D4-CA05-68CF430CDB45}"/>
              </a:ext>
            </a:extLst>
          </p:cNvPr>
          <p:cNvSpPr txBox="1"/>
          <p:nvPr/>
        </p:nvSpPr>
        <p:spPr>
          <a:xfrm>
            <a:off x="5912000" y="1755868"/>
            <a:ext cx="517688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/>
              <a:t>Instrução:</a:t>
            </a:r>
          </a:p>
          <a:p>
            <a:pPr lvl="1"/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o paciente tiver com a temperatura maior do que 36 graus classifique “Febre”.</a:t>
            </a:r>
          </a:p>
          <a:p>
            <a:pPr lvl="1"/>
            <a:r>
              <a:rPr lang="pt-BR" sz="20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Caso ao contrário classifique “Normal”.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7F251DA-7C30-3815-4682-BAE50B1C153C}"/>
              </a:ext>
            </a:extLst>
          </p:cNvPr>
          <p:cNvSpPr txBox="1"/>
          <p:nvPr/>
        </p:nvSpPr>
        <p:spPr>
          <a:xfrm>
            <a:off x="6012083" y="3778693"/>
            <a:ext cx="49767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 err="1"/>
              <a:t>Pseudo-Código</a:t>
            </a:r>
            <a:r>
              <a:rPr lang="pt-BR" sz="2000" b="1" dirty="0"/>
              <a:t>:</a:t>
            </a:r>
          </a:p>
          <a:p>
            <a:pPr lvl="1"/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temperatura &gt; 36:</a:t>
            </a:r>
          </a:p>
          <a:p>
            <a:pPr lvl="1"/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‘Febre’</a:t>
            </a:r>
          </a:p>
          <a:p>
            <a:pPr lvl="1"/>
            <a:r>
              <a:rPr lang="pt-BR" sz="20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Caso ao contrário:</a:t>
            </a:r>
          </a:p>
          <a:p>
            <a:pPr lvl="1"/>
            <a:r>
              <a:rPr lang="pt-BR" sz="20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‘Normal’</a:t>
            </a:r>
          </a:p>
          <a:p>
            <a:endParaRPr lang="pt-BR" sz="2000" dirty="0"/>
          </a:p>
        </p:txBody>
      </p:sp>
      <p:sp>
        <p:nvSpPr>
          <p:cNvPr id="9" name="Retângulo: Biselado 8">
            <a:extLst>
              <a:ext uri="{FF2B5EF4-FFF2-40B4-BE49-F238E27FC236}">
                <a16:creationId xmlns:a16="http://schemas.microsoft.com/office/drawing/2014/main" id="{1F0F0C2F-54EE-EBEB-F553-B15B8FB9D3F5}"/>
              </a:ext>
            </a:extLst>
          </p:cNvPr>
          <p:cNvSpPr/>
          <p:nvPr/>
        </p:nvSpPr>
        <p:spPr>
          <a:xfrm>
            <a:off x="0" y="6369269"/>
            <a:ext cx="567559" cy="488731"/>
          </a:xfrm>
          <a:prstGeom prst="bevel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83751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02970-30B6-72FF-2E55-B14C91957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836FAF-9E2D-5A19-14E0-A9E2ED0AA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8" y="149072"/>
            <a:ext cx="10353762" cy="970450"/>
          </a:xfrm>
        </p:spPr>
        <p:txBody>
          <a:bodyPr/>
          <a:lstStyle/>
          <a:p>
            <a:r>
              <a:rPr lang="pt-BR" dirty="0"/>
              <a:t>Condicional composta dupla – (</a:t>
            </a:r>
            <a:r>
              <a:rPr lang="pt-BR" dirty="0" err="1"/>
              <a:t>if</a:t>
            </a:r>
            <a:r>
              <a:rPr lang="pt-BR" dirty="0"/>
              <a:t>, </a:t>
            </a:r>
            <a:r>
              <a:rPr lang="pt-BR" dirty="0" err="1"/>
              <a:t>else</a:t>
            </a:r>
            <a:r>
              <a:rPr lang="pt-BR" dirty="0"/>
              <a:t> </a:t>
            </a:r>
            <a:r>
              <a:rPr lang="pt-BR" dirty="0" err="1"/>
              <a:t>if</a:t>
            </a:r>
            <a:r>
              <a:rPr lang="pt-BR" dirty="0"/>
              <a:t>, </a:t>
            </a:r>
            <a:r>
              <a:rPr lang="pt-BR" dirty="0" err="1"/>
              <a:t>else</a:t>
            </a:r>
            <a:r>
              <a:rPr lang="pt-BR" dirty="0"/>
              <a:t>)</a:t>
            </a:r>
          </a:p>
        </p:txBody>
      </p:sp>
      <p:pic>
        <p:nvPicPr>
          <p:cNvPr id="1026" name="Picture 2" descr="r if else if else statement syntax">
            <a:extLst>
              <a:ext uri="{FF2B5EF4-FFF2-40B4-BE49-F238E27FC236}">
                <a16:creationId xmlns:a16="http://schemas.microsoft.com/office/drawing/2014/main" id="{7B7C6954-4AAF-F831-6407-033E08E71DC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57"/>
          <a:stretch/>
        </p:blipFill>
        <p:spPr bwMode="auto">
          <a:xfrm>
            <a:off x="1994682" y="1119522"/>
            <a:ext cx="8202634" cy="522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7094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Python Elif (If Elif Else) Statement - Tutlane">
            <a:extLst>
              <a:ext uri="{FF2B5EF4-FFF2-40B4-BE49-F238E27FC236}">
                <a16:creationId xmlns:a16="http://schemas.microsoft.com/office/drawing/2014/main" id="{12A345D5-7629-9263-4698-9C93B08D56D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820" y="384546"/>
            <a:ext cx="5092360" cy="6088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4944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AF642-3C08-202D-3C15-D2600E5FC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68516E-797E-4BAB-59F7-4B9812D6B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Robô Médico </a:t>
            </a:r>
          </a:p>
        </p:txBody>
      </p:sp>
      <p:pic>
        <p:nvPicPr>
          <p:cNvPr id="1026" name="Picture 2" descr="Robô médico - ícones de tecnologia grátis">
            <a:extLst>
              <a:ext uri="{FF2B5EF4-FFF2-40B4-BE49-F238E27FC236}">
                <a16:creationId xmlns:a16="http://schemas.microsoft.com/office/drawing/2014/main" id="{FE6D6393-B0AA-66C4-B0D0-32681D6C815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283" y="1580050"/>
            <a:ext cx="4046538" cy="4046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5D7CB50-17D4-8FEC-3FE2-D81663F3D300}"/>
              </a:ext>
            </a:extLst>
          </p:cNvPr>
          <p:cNvSpPr txBox="1"/>
          <p:nvPr/>
        </p:nvSpPr>
        <p:spPr>
          <a:xfrm>
            <a:off x="5912000" y="1755868"/>
            <a:ext cx="517688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/>
              <a:t>Instrução:</a:t>
            </a:r>
          </a:p>
          <a:p>
            <a:pPr lvl="1"/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o paciente tiver com a temperatura maior do que 36 graus classifique “Febre”.</a:t>
            </a:r>
          </a:p>
          <a:p>
            <a:pPr lvl="1"/>
            <a:r>
              <a:rPr lang="pt-BR" sz="2000" dirty="0">
                <a:solidFill>
                  <a:srgbClr val="92D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estiver menor que 18,5 graus classifique hipotermia</a:t>
            </a:r>
          </a:p>
          <a:p>
            <a:pPr lvl="1"/>
            <a:r>
              <a:rPr lang="pt-BR" sz="20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Caso ao contrário classifique “Normal”.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53DC89E-3A71-6612-60A0-F86507E499B4}"/>
              </a:ext>
            </a:extLst>
          </p:cNvPr>
          <p:cNvSpPr txBox="1"/>
          <p:nvPr/>
        </p:nvSpPr>
        <p:spPr>
          <a:xfrm>
            <a:off x="6012083" y="3778693"/>
            <a:ext cx="497671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 err="1"/>
              <a:t>Pseudo-Código</a:t>
            </a:r>
            <a:r>
              <a:rPr lang="pt-BR" sz="2000" b="1" dirty="0"/>
              <a:t>:</a:t>
            </a:r>
          </a:p>
          <a:p>
            <a:pPr lvl="1"/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temperatura &gt; 36:</a:t>
            </a:r>
          </a:p>
          <a:p>
            <a:pPr lvl="1"/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‘Febre’</a:t>
            </a:r>
          </a:p>
          <a:p>
            <a:pPr lvl="1"/>
            <a:r>
              <a:rPr lang="pt-BR" sz="2000" dirty="0">
                <a:solidFill>
                  <a:srgbClr val="92D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temperatura &lt; 18,5 graus 	hipotermia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pt-BR" sz="20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Caso ao contrário:</a:t>
            </a:r>
          </a:p>
          <a:p>
            <a:pPr lvl="1"/>
            <a:r>
              <a:rPr lang="pt-BR" sz="20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‘Normal’</a:t>
            </a:r>
          </a:p>
          <a:p>
            <a:endParaRPr lang="pt-BR" sz="2000" dirty="0"/>
          </a:p>
        </p:txBody>
      </p:sp>
      <p:sp>
        <p:nvSpPr>
          <p:cNvPr id="9" name="Retângulo: Biselado 8">
            <a:extLst>
              <a:ext uri="{FF2B5EF4-FFF2-40B4-BE49-F238E27FC236}">
                <a16:creationId xmlns:a16="http://schemas.microsoft.com/office/drawing/2014/main" id="{804A53FF-128B-7543-5EAD-DCB21F835628}"/>
              </a:ext>
            </a:extLst>
          </p:cNvPr>
          <p:cNvSpPr/>
          <p:nvPr/>
        </p:nvSpPr>
        <p:spPr>
          <a:xfrm>
            <a:off x="0" y="6369269"/>
            <a:ext cx="567559" cy="488731"/>
          </a:xfrm>
          <a:prstGeom prst="bevel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77466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A07E9B-8D3A-0C6E-A01E-67F910A9C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Variáveis (principais)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238216-AE11-86ED-7221-61C98D4FD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442" y="1670485"/>
            <a:ext cx="11233690" cy="4328382"/>
          </a:xfrm>
        </p:spPr>
        <p:txBody>
          <a:bodyPr numCol="2">
            <a:normAutofit/>
          </a:bodyPr>
          <a:lstStyle/>
          <a:p>
            <a:r>
              <a:rPr lang="pt-BR" sz="2400" dirty="0"/>
              <a:t>Números</a:t>
            </a:r>
          </a:p>
          <a:p>
            <a:pPr lvl="1"/>
            <a:r>
              <a:rPr lang="pt-BR" sz="2000" dirty="0"/>
              <a:t>Inteiro (</a:t>
            </a:r>
            <a:r>
              <a:rPr lang="pt-BR" sz="2000" dirty="0" err="1"/>
              <a:t>int</a:t>
            </a:r>
            <a:r>
              <a:rPr lang="pt-BR" sz="2000" dirty="0"/>
              <a:t>)</a:t>
            </a:r>
          </a:p>
          <a:p>
            <a:pPr lvl="2"/>
            <a:r>
              <a:rPr lang="pt-B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idade = 23</a:t>
            </a:r>
          </a:p>
          <a:p>
            <a:pPr lvl="2"/>
            <a:r>
              <a:rPr lang="pt-B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ASA = 1</a:t>
            </a:r>
          </a:p>
          <a:p>
            <a:pPr lvl="1"/>
            <a:r>
              <a:rPr lang="pt-BR" sz="2000" dirty="0"/>
              <a:t>Decimal (</a:t>
            </a:r>
            <a:r>
              <a:rPr lang="pt-BR" sz="2000" dirty="0" err="1"/>
              <a:t>float</a:t>
            </a:r>
            <a:r>
              <a:rPr lang="pt-BR" sz="2000" dirty="0"/>
              <a:t>)</a:t>
            </a:r>
          </a:p>
          <a:p>
            <a:pPr lvl="2"/>
            <a:r>
              <a:rPr lang="pt-B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Altura = 1.67</a:t>
            </a:r>
          </a:p>
          <a:p>
            <a:r>
              <a:rPr lang="pt-BR" sz="2400" dirty="0" err="1"/>
              <a:t>Strings</a:t>
            </a:r>
            <a:r>
              <a:rPr lang="pt-BR" sz="2400" dirty="0"/>
              <a:t> (Caracteres - Texto)</a:t>
            </a:r>
          </a:p>
          <a:p>
            <a:pPr lvl="1"/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nome = “Gabriel”</a:t>
            </a:r>
          </a:p>
          <a:p>
            <a:pPr lvl="1"/>
            <a:r>
              <a:rPr lang="pt-B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observacao</a:t>
            </a: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“estava sem ficha”</a:t>
            </a:r>
          </a:p>
          <a:p>
            <a:r>
              <a:rPr lang="pt-BR" sz="2400" dirty="0"/>
              <a:t>Booleanos (binário)</a:t>
            </a:r>
          </a:p>
          <a:p>
            <a:pPr lvl="1"/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enxaqueca = </a:t>
            </a:r>
            <a:r>
              <a:rPr lang="pt-B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sono = False</a:t>
            </a:r>
          </a:p>
          <a:p>
            <a:r>
              <a:rPr lang="pt-BR" sz="2400" dirty="0"/>
              <a:t>Listas (vetores)</a:t>
            </a:r>
          </a:p>
          <a:p>
            <a:pPr lvl="1"/>
            <a:r>
              <a:rPr lang="pt-BR" sz="2000" dirty="0"/>
              <a:t>comorbidades = c(sedentarismo, hipotenso)</a:t>
            </a:r>
          </a:p>
          <a:p>
            <a:pPr lvl="1"/>
            <a:r>
              <a:rPr lang="pt-BR" sz="2000" dirty="0"/>
              <a:t>medicamentos = c(“dipirona", “</a:t>
            </a:r>
            <a:r>
              <a:rPr lang="pt-BR" sz="2000" dirty="0" err="1"/>
              <a:t>amoxilina</a:t>
            </a:r>
            <a:r>
              <a:rPr lang="pt-BR" sz="2000" dirty="0"/>
              <a:t>“)</a:t>
            </a:r>
          </a:p>
          <a:p>
            <a:endParaRPr lang="pt-BR" sz="2400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C3A25130-7501-B3A7-C70B-506DCD9683B9}"/>
              </a:ext>
            </a:extLst>
          </p:cNvPr>
          <p:cNvSpPr/>
          <p:nvPr/>
        </p:nvSpPr>
        <p:spPr>
          <a:xfrm>
            <a:off x="3200455" y="3409289"/>
            <a:ext cx="2361248" cy="850773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/>
              <a:t>Regra: É usado ponto(.) não virgula(,)</a:t>
            </a:r>
          </a:p>
        </p:txBody>
      </p:sp>
    </p:spTree>
    <p:extLst>
      <p:ext uri="{BB962C8B-B14F-4D97-AF65-F5344CB8AC3E}">
        <p14:creationId xmlns:p14="http://schemas.microsoft.com/office/powerpoint/2010/main" val="4230727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9EA00-8409-795C-E928-67A5FBD56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16A2F7-4411-8F03-2EEA-23701A61F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Robô Médico </a:t>
            </a:r>
          </a:p>
        </p:txBody>
      </p:sp>
      <p:pic>
        <p:nvPicPr>
          <p:cNvPr id="1026" name="Picture 2" descr="Robô médico - ícones de tecnologia grátis">
            <a:extLst>
              <a:ext uri="{FF2B5EF4-FFF2-40B4-BE49-F238E27FC236}">
                <a16:creationId xmlns:a16="http://schemas.microsoft.com/office/drawing/2014/main" id="{9CD22B48-20B7-2731-9CC1-A4272939F43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283" y="1580050"/>
            <a:ext cx="4046538" cy="4046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FE2AA51-D218-ED17-D461-BEBC2C9F2C5C}"/>
              </a:ext>
            </a:extLst>
          </p:cNvPr>
          <p:cNvSpPr txBox="1"/>
          <p:nvPr/>
        </p:nvSpPr>
        <p:spPr>
          <a:xfrm>
            <a:off x="5912001" y="1755869"/>
            <a:ext cx="5176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Instrução:</a:t>
            </a: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o paciente vomitar administre omeprazol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61D1E21-1431-4A07-BF0E-9F94C8683334}"/>
              </a:ext>
            </a:extLst>
          </p:cNvPr>
          <p:cNvSpPr txBox="1"/>
          <p:nvPr/>
        </p:nvSpPr>
        <p:spPr>
          <a:xfrm>
            <a:off x="5912001" y="2855018"/>
            <a:ext cx="49767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err="1"/>
              <a:t>Pseudo-Código</a:t>
            </a:r>
            <a:r>
              <a:rPr lang="pt-BR" b="1" dirty="0"/>
              <a:t>:</a:t>
            </a: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vomito:</a:t>
            </a: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administre omeprazol</a:t>
            </a:r>
          </a:p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3B183F4-6640-17A7-0662-B68B094BE1F1}"/>
              </a:ext>
            </a:extLst>
          </p:cNvPr>
          <p:cNvSpPr txBox="1"/>
          <p:nvPr/>
        </p:nvSpPr>
        <p:spPr>
          <a:xfrm>
            <a:off x="5912001" y="4055347"/>
            <a:ext cx="51768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Código:</a:t>
            </a: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vomito </a:t>
            </a:r>
            <a:r>
              <a:rPr lang="pt-BR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==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“sim”:</a:t>
            </a: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administrar_omeprazol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tângulo: Biselado 6">
            <a:extLst>
              <a:ext uri="{FF2B5EF4-FFF2-40B4-BE49-F238E27FC236}">
                <a16:creationId xmlns:a16="http://schemas.microsoft.com/office/drawing/2014/main" id="{6C0E4CEE-4A67-AD5A-4543-4B496852090C}"/>
              </a:ext>
            </a:extLst>
          </p:cNvPr>
          <p:cNvSpPr/>
          <p:nvPr/>
        </p:nvSpPr>
        <p:spPr>
          <a:xfrm>
            <a:off x="0" y="6369269"/>
            <a:ext cx="567559" cy="488731"/>
          </a:xfrm>
          <a:prstGeom prst="bevel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6976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10ECC-27CA-D84A-238D-83FA6160C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25DA1E-43B7-9E8B-FE6F-424A22BD1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Robô Médico </a:t>
            </a:r>
          </a:p>
        </p:txBody>
      </p:sp>
      <p:pic>
        <p:nvPicPr>
          <p:cNvPr id="1026" name="Picture 2" descr="Robô médico - ícones de tecnologia grátis">
            <a:extLst>
              <a:ext uri="{FF2B5EF4-FFF2-40B4-BE49-F238E27FC236}">
                <a16:creationId xmlns:a16="http://schemas.microsoft.com/office/drawing/2014/main" id="{D612D289-1599-8F12-B1CD-99FF27BA5C1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283" y="1580050"/>
            <a:ext cx="4046538" cy="4046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985C1F1-8D7D-7381-A4DD-2F55FC3F1E97}"/>
              </a:ext>
            </a:extLst>
          </p:cNvPr>
          <p:cNvSpPr txBox="1"/>
          <p:nvPr/>
        </p:nvSpPr>
        <p:spPr>
          <a:xfrm>
            <a:off x="5912000" y="1486763"/>
            <a:ext cx="51768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Instrução:</a:t>
            </a: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Calcule o 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imc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 paciente e classifique ele como obeso se o 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imc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maior que 30, caso for menor que 18,5 classifique como magro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ACF4470-2EC1-ECC8-3ABC-93B52A1C6DA4}"/>
              </a:ext>
            </a:extLst>
          </p:cNvPr>
          <p:cNvSpPr txBox="1"/>
          <p:nvPr/>
        </p:nvSpPr>
        <p:spPr>
          <a:xfrm>
            <a:off x="6090676" y="2851919"/>
            <a:ext cx="49767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err="1"/>
              <a:t>Pseudo-Código</a:t>
            </a:r>
            <a:r>
              <a:rPr lang="pt-BR" b="1" dirty="0"/>
              <a:t>:</a:t>
            </a: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Aplicar a formula usando peso e altura</a:t>
            </a: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imc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peso / (altura * altura)</a:t>
            </a: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imc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maior que 30:	</a:t>
            </a: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Gordo</a:t>
            </a: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imc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menor que 18,5:</a:t>
            </a: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Magro</a:t>
            </a:r>
          </a:p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FC842EB-A125-8217-1789-FCDA976821E4}"/>
              </a:ext>
            </a:extLst>
          </p:cNvPr>
          <p:cNvSpPr txBox="1"/>
          <p:nvPr/>
        </p:nvSpPr>
        <p:spPr>
          <a:xfrm>
            <a:off x="6090676" y="4826675"/>
            <a:ext cx="51768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Código:</a:t>
            </a: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imc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peso / (altura * altura)</a:t>
            </a:r>
          </a:p>
          <a:p>
            <a:pPr lvl="1"/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imc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&gt; 30){</a:t>
            </a: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print(“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vc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está gordo!”)</a:t>
            </a: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elif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imc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&lt; 18.5){</a:t>
            </a: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print(“</a:t>
            </a:r>
            <a:r>
              <a:rPr lang="pt-B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magro”)}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tângulo: Biselado 5">
            <a:extLst>
              <a:ext uri="{FF2B5EF4-FFF2-40B4-BE49-F238E27FC236}">
                <a16:creationId xmlns:a16="http://schemas.microsoft.com/office/drawing/2014/main" id="{3ACCFFCA-CEBC-F8AE-784E-D92DC37FFCA9}"/>
              </a:ext>
            </a:extLst>
          </p:cNvPr>
          <p:cNvSpPr/>
          <p:nvPr/>
        </p:nvSpPr>
        <p:spPr>
          <a:xfrm>
            <a:off x="0" y="6369269"/>
            <a:ext cx="567559" cy="488731"/>
          </a:xfrm>
          <a:prstGeom prst="bevel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43478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1227A5-0490-4DB3-5E41-777BE0086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443" y="600336"/>
            <a:ext cx="10353762" cy="970450"/>
          </a:xfrm>
        </p:spPr>
        <p:txBody>
          <a:bodyPr/>
          <a:lstStyle/>
          <a:p>
            <a:r>
              <a:rPr lang="pt-BR" dirty="0"/>
              <a:t>Condicionais – Por que “n-</a:t>
            </a:r>
            <a:r>
              <a:rPr lang="pt-BR" dirty="0" err="1"/>
              <a:t>esima</a:t>
            </a:r>
            <a:r>
              <a:rPr lang="pt-BR" dirty="0"/>
              <a:t> condição” ?</a:t>
            </a:r>
          </a:p>
        </p:txBody>
      </p:sp>
      <p:pic>
        <p:nvPicPr>
          <p:cNvPr id="8194" name="Picture 2" descr="Os 5 Graus de Obesidade e os Tratamentos Correspondentes | Clínica  Bariátrica Florianópolis">
            <a:extLst>
              <a:ext uri="{FF2B5EF4-FFF2-40B4-BE49-F238E27FC236}">
                <a16:creationId xmlns:a16="http://schemas.microsoft.com/office/drawing/2014/main" id="{51A5CADF-D22C-E213-42EE-230AC12E8C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37" r="17880"/>
          <a:stretch/>
        </p:blipFill>
        <p:spPr bwMode="auto">
          <a:xfrm>
            <a:off x="5400157" y="2195636"/>
            <a:ext cx="5867400" cy="337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Robô médico - ícones de tecnologia grátis">
            <a:extLst>
              <a:ext uri="{FF2B5EF4-FFF2-40B4-BE49-F238E27FC236}">
                <a16:creationId xmlns:a16="http://schemas.microsoft.com/office/drawing/2014/main" id="{D5927DBF-3ABE-A03E-800A-E9FB0A1A6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443" y="1580050"/>
            <a:ext cx="4046538" cy="4046538"/>
          </a:xfrm>
          <a:prstGeom prst="rect">
            <a:avLst/>
          </a:prstGeom>
          <a:noFill/>
          <a:effectLst>
            <a:outerShdw blurRad="25400" dir="17880000">
              <a:srgbClr val="000000">
                <a:alpha val="46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279EEF69-25E5-E81A-41D1-A5434D8471CE}"/>
              </a:ext>
            </a:extLst>
          </p:cNvPr>
          <p:cNvSpPr txBox="1"/>
          <p:nvPr/>
        </p:nvSpPr>
        <p:spPr>
          <a:xfrm>
            <a:off x="5868242" y="1698545"/>
            <a:ext cx="5290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Classifique o paciente conforme a tabela abaixo</a:t>
            </a:r>
          </a:p>
        </p:txBody>
      </p:sp>
      <p:sp>
        <p:nvSpPr>
          <p:cNvPr id="8" name="Retângulo: Biselado 7">
            <a:extLst>
              <a:ext uri="{FF2B5EF4-FFF2-40B4-BE49-F238E27FC236}">
                <a16:creationId xmlns:a16="http://schemas.microsoft.com/office/drawing/2014/main" id="{08BE3C12-D20F-FCA5-3466-31EEA51B4D52}"/>
              </a:ext>
            </a:extLst>
          </p:cNvPr>
          <p:cNvSpPr/>
          <p:nvPr/>
        </p:nvSpPr>
        <p:spPr>
          <a:xfrm>
            <a:off x="0" y="6369269"/>
            <a:ext cx="567559" cy="488731"/>
          </a:xfrm>
          <a:prstGeom prst="bevel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840168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515398-842C-B417-3966-28A5C13D3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13DA57-6121-CE74-B1C2-545C93355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Picture 2" descr="Os 5 Graus de Obesidade e os Tratamentos Correspondentes | Clínica  Bariátrica Florianópolis">
            <a:extLst>
              <a:ext uri="{FF2B5EF4-FFF2-40B4-BE49-F238E27FC236}">
                <a16:creationId xmlns:a16="http://schemas.microsoft.com/office/drawing/2014/main" id="{132E6132-4C57-719E-0115-FB836E1D63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37" r="17880"/>
          <a:stretch/>
        </p:blipFill>
        <p:spPr bwMode="auto">
          <a:xfrm>
            <a:off x="769541" y="1732449"/>
            <a:ext cx="7205559" cy="4150190"/>
          </a:xfrm>
          <a:prstGeom prst="rect">
            <a:avLst/>
          </a:prstGeom>
          <a:noFill/>
          <a:effectLst>
            <a:outerShdw blurRad="25400" dir="17880000">
              <a:srgbClr val="000000">
                <a:alpha val="46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60131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56726-A923-3017-C6E8-97164F6E3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FFC23E-565C-35E6-2ACE-279C731FE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Robô Médico </a:t>
            </a:r>
          </a:p>
        </p:txBody>
      </p:sp>
      <p:pic>
        <p:nvPicPr>
          <p:cNvPr id="1026" name="Picture 2" descr="Robô médico - ícones de tecnologia grátis">
            <a:extLst>
              <a:ext uri="{FF2B5EF4-FFF2-40B4-BE49-F238E27FC236}">
                <a16:creationId xmlns:a16="http://schemas.microsoft.com/office/drawing/2014/main" id="{65227DC9-EFBE-60C9-FBB5-CC2089943DF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283" y="1580050"/>
            <a:ext cx="4046538" cy="4046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FA892AC-27AD-5FB3-D65A-D3664E62232A}"/>
              </a:ext>
            </a:extLst>
          </p:cNvPr>
          <p:cNvSpPr txBox="1"/>
          <p:nvPr/>
        </p:nvSpPr>
        <p:spPr>
          <a:xfrm>
            <a:off x="5912000" y="1486763"/>
            <a:ext cx="5176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Instrução:</a:t>
            </a: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Avisar o médico se paciente tiver diabetes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858D60B-7D50-B47F-79DB-6667A4E5A400}"/>
              </a:ext>
            </a:extLst>
          </p:cNvPr>
          <p:cNvSpPr txBox="1"/>
          <p:nvPr/>
        </p:nvSpPr>
        <p:spPr>
          <a:xfrm>
            <a:off x="6090676" y="2325722"/>
            <a:ext cx="49767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err="1"/>
              <a:t>Pseudo-Código</a:t>
            </a:r>
            <a:r>
              <a:rPr lang="pt-BR" b="1" dirty="0"/>
              <a:t>:</a:t>
            </a: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Olhar cada item na lista de comorbidade e alertar o médico se uma delas for diabetes</a:t>
            </a:r>
          </a:p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AD15F82-D85E-E68F-EFFB-27DBDB39993C}"/>
              </a:ext>
            </a:extLst>
          </p:cNvPr>
          <p:cNvSpPr txBox="1"/>
          <p:nvPr/>
        </p:nvSpPr>
        <p:spPr>
          <a:xfrm>
            <a:off x="5990593" y="3535509"/>
            <a:ext cx="51768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Código:</a:t>
            </a: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item in 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comobidades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item == “diabetes”:</a:t>
            </a: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alertar</a:t>
            </a:r>
            <a:r>
              <a:rPr lang="pt-BR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_</a:t>
            </a:r>
            <a:r>
              <a:rPr lang="pt-B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medico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tângulo: Biselado 5">
            <a:extLst>
              <a:ext uri="{FF2B5EF4-FFF2-40B4-BE49-F238E27FC236}">
                <a16:creationId xmlns:a16="http://schemas.microsoft.com/office/drawing/2014/main" id="{B41D534B-E166-782C-F871-36FA5CCCE9E9}"/>
              </a:ext>
            </a:extLst>
          </p:cNvPr>
          <p:cNvSpPr/>
          <p:nvPr/>
        </p:nvSpPr>
        <p:spPr>
          <a:xfrm>
            <a:off x="0" y="6369269"/>
            <a:ext cx="567559" cy="488731"/>
          </a:xfrm>
          <a:prstGeom prst="bevel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360096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5F0EBD-BAC1-7F3E-C62A-A00A7D1C8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Fontes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B6A28E-BBEB-E646-89FE-C4D4D7D76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Operadores Aritméticos e Operadores Lógicos em Python (pythonacademy.com.br)</a:t>
            </a:r>
            <a:endParaRPr lang="pt-BR" dirty="0"/>
          </a:p>
          <a:p>
            <a:r>
              <a:rPr lang="pt-BR" dirty="0">
                <a:hlinkClick r:id="rId3"/>
              </a:rPr>
              <a:t>Tipos de Operadores em Python (dio.me)</a:t>
            </a:r>
            <a:endParaRPr lang="pt-BR" dirty="0"/>
          </a:p>
          <a:p>
            <a:r>
              <a:rPr lang="en-US" dirty="0">
                <a:hlinkClick r:id="rId4"/>
              </a:rPr>
              <a:t>R if else elseif Statement - Learn By Example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675031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rdósia">
  <a:themeElements>
    <a:clrScheme name="Ardósi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Ardósi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rdósi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TM04033929[[fn=Ardósia]]</Template>
  <TotalTime>640</TotalTime>
  <Words>1059</Words>
  <Application>Microsoft Office PowerPoint</Application>
  <PresentationFormat>Widescreen</PresentationFormat>
  <Paragraphs>201</Paragraphs>
  <Slides>24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2" baseType="lpstr">
      <vt:lpstr>Aptos</vt:lpstr>
      <vt:lpstr>Arial</vt:lpstr>
      <vt:lpstr>Calibri</vt:lpstr>
      <vt:lpstr>Calisto MT</vt:lpstr>
      <vt:lpstr>Consolas</vt:lpstr>
      <vt:lpstr>Wingdings</vt:lpstr>
      <vt:lpstr>Wingdings 2</vt:lpstr>
      <vt:lpstr>Ardósia</vt:lpstr>
      <vt:lpstr>“Linguagem de Programação”</vt:lpstr>
      <vt:lpstr>Prática</vt:lpstr>
      <vt:lpstr>Objetivo de Aula</vt:lpstr>
      <vt:lpstr>Operadores Aritméticos</vt:lpstr>
      <vt:lpstr>Operadores Relacionais</vt:lpstr>
      <vt:lpstr>Operadores Relacionais em Palavras</vt:lpstr>
      <vt:lpstr>Operadores Lógicos</vt:lpstr>
      <vt:lpstr>Definição de Variáveis</vt:lpstr>
      <vt:lpstr>Declarar Variável</vt:lpstr>
      <vt:lpstr>Operadores de atribuição</vt:lpstr>
      <vt:lpstr>Condicional única simples</vt:lpstr>
      <vt:lpstr>Robô Médico </vt:lpstr>
      <vt:lpstr>Condicional composta – (if, else)</vt:lpstr>
      <vt:lpstr>Robô Médico </vt:lpstr>
      <vt:lpstr>Condicional composta dupla – (if, else if, else)</vt:lpstr>
      <vt:lpstr>Apresentação do PowerPoint</vt:lpstr>
      <vt:lpstr>Robô Médico </vt:lpstr>
      <vt:lpstr>Tipos de Variáveis (principais)</vt:lpstr>
      <vt:lpstr>Robô Médico </vt:lpstr>
      <vt:lpstr>Robô Médico </vt:lpstr>
      <vt:lpstr>Condicionais – Por que “n-esima condição” ?</vt:lpstr>
      <vt:lpstr>Apresentação do PowerPoint</vt:lpstr>
      <vt:lpstr>Robô Médico </vt:lpstr>
      <vt:lpstr>Fontes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Regras</dc:title>
  <dc:creator>Gabriel Silva dos Anjos</dc:creator>
  <cp:lastModifiedBy>Gabriel Silva dos Anjos</cp:lastModifiedBy>
  <cp:revision>2</cp:revision>
  <dcterms:created xsi:type="dcterms:W3CDTF">2024-02-22T01:15:58Z</dcterms:created>
  <dcterms:modified xsi:type="dcterms:W3CDTF">2026-01-03T05:01:51Z</dcterms:modified>
</cp:coreProperties>
</file>